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10287000" cx="18288000"/>
  <p:notesSz cx="6858000" cy="9144000"/>
  <p:embeddedFontLst>
    <p:embeddedFont>
      <p:font typeface="Belleza"/>
      <p:regular r:id="rId37"/>
    </p:embeddedFont>
    <p:embeddedFont>
      <p:font typeface="Lemonada"/>
      <p:regular r:id="rId38"/>
      <p:bold r:id="rId39"/>
    </p:embeddedFont>
    <p:embeddedFont>
      <p:font typeface="Open Sans"/>
      <p:bold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8C491C-9EDB-4828-882A-FAB558ADCB67}">
  <a:tblStyle styleId="{278C491C-9EDB-4828-882A-FAB558ADCB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.fntdata"/><Relationship Id="rId20" Type="http://schemas.openxmlformats.org/officeDocument/2006/relationships/slide" Target="slides/slide14.xml"/><Relationship Id="rId41" Type="http://schemas.openxmlformats.org/officeDocument/2006/relationships/font" Target="fonts/OpenSans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Belleza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Lemonada-bold.fntdata"/><Relationship Id="rId16" Type="http://schemas.openxmlformats.org/officeDocument/2006/relationships/slide" Target="slides/slide10.xml"/><Relationship Id="rId38" Type="http://schemas.openxmlformats.org/officeDocument/2006/relationships/font" Target="fonts/Lemonada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079b7a788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5079b7a788_2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5079b7a788_2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079b7a788_2_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5079b7a788_2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079b7a788_2_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5079b7a788_2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079b7a788_2_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5079b7a788_2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079b7a788_2_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5079b7a788_2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079b7a788_2_1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5079b7a788_2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50815dcbbe_2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50815dcbbe_2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872640f6ecbddf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872640f6ecbddf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872640f6ecbddf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872640f6ecbddf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50815dcbbe_2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50815dcbbe_2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5079b7a788_0_182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5079b7a788_0_182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5079b7a788_0_182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079b7a788_2_1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5079b7a788_2_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5079b7a788_2_2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5079b7a788_2_2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5079b7a788_2_2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5079b7a788_2_2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5079b7a788_2_2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5079b7a788_2_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5079b7a788_2_3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5079b7a788_2_3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5079b7a788_2_3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5079b7a788_2_3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5079b7a788_0_682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5079b7a788_0_682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g35079b7a788_0_682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5079b7a788_0_693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5079b7a788_0_693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35079b7a788_0_693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5079b7a788_0_728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5079b7a788_0_728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5079b7a788_0_728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50815dcbbe_3_5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50815dcbbe_3_5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g350815dcbbe_3_5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5079b7a788_2_3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35079b7a788_2_3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5079b7a788_2_4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g35079b7a788_2_4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5079b7a788_0_647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5079b7a788_0_647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g35079b7a788_0_647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5079b7a788_0_432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5079b7a788_0_432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g35079b7a788_0_432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5079b7a788_2_4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g35079b7a788_2_4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5079b7a788_0_506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5079b7a788_0_506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g35079b7a788_0_506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5079b7a788_2_4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g35079b7a788_2_4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5079b7a788_2_4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g35079b7a788_2_4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5079b7a788_2_4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g35079b7a788_2_4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11" Type="http://schemas.openxmlformats.org/officeDocument/2006/relationships/image" Target="../media/image21.png"/><Relationship Id="rId10" Type="http://schemas.openxmlformats.org/officeDocument/2006/relationships/image" Target="../media/image25.png"/><Relationship Id="rId12" Type="http://schemas.openxmlformats.org/officeDocument/2006/relationships/image" Target="../media/image8.png"/><Relationship Id="rId9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22.png"/><Relationship Id="rId7" Type="http://schemas.openxmlformats.org/officeDocument/2006/relationships/image" Target="../media/image14.png"/><Relationship Id="rId8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11" Type="http://schemas.openxmlformats.org/officeDocument/2006/relationships/image" Target="../media/image27.png"/><Relationship Id="rId10" Type="http://schemas.openxmlformats.org/officeDocument/2006/relationships/image" Target="../media/image34.png"/><Relationship Id="rId9" Type="http://schemas.openxmlformats.org/officeDocument/2006/relationships/image" Target="../media/image30.png"/><Relationship Id="rId5" Type="http://schemas.openxmlformats.org/officeDocument/2006/relationships/image" Target="../media/image22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2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0.jpg"/><Relationship Id="rId4" Type="http://schemas.openxmlformats.org/officeDocument/2006/relationships/image" Target="../media/image32.jpg"/><Relationship Id="rId5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jpg"/><Relationship Id="rId4" Type="http://schemas.openxmlformats.org/officeDocument/2006/relationships/image" Target="../media/image43.jpg"/><Relationship Id="rId5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jpg"/><Relationship Id="rId4" Type="http://schemas.openxmlformats.org/officeDocument/2006/relationships/image" Target="../media/image42.jpg"/><Relationship Id="rId5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37.png"/><Relationship Id="rId5" Type="http://schemas.openxmlformats.org/officeDocument/2006/relationships/image" Target="../media/image32.jpg"/><Relationship Id="rId6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5.png"/><Relationship Id="rId4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image" Target="../media/image4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584552" y="528580"/>
            <a:ext cx="1918866" cy="1910558"/>
          </a:xfrm>
          <a:custGeom>
            <a:rect b="b" l="l" r="r" t="t"/>
            <a:pathLst>
              <a:path extrusionOk="0" h="2617203" w="2628584">
                <a:moveTo>
                  <a:pt x="0" y="0"/>
                </a:moveTo>
                <a:lnTo>
                  <a:pt x="2628584" y="0"/>
                </a:lnTo>
                <a:lnTo>
                  <a:pt x="2628584" y="2617203"/>
                </a:lnTo>
                <a:lnTo>
                  <a:pt x="0" y="26172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15" l="0" r="0" t="-216"/>
            </a:stretch>
          </a:blipFill>
          <a:ln>
            <a:noFill/>
          </a:ln>
        </p:spPr>
      </p:sp>
      <p:sp>
        <p:nvSpPr>
          <p:cNvPr id="90" name="Google Shape;90;p13"/>
          <p:cNvSpPr txBox="1"/>
          <p:nvPr/>
        </p:nvSpPr>
        <p:spPr>
          <a:xfrm>
            <a:off x="2883179" y="282453"/>
            <a:ext cx="130560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Minstère de l'Enseignement Supérieur et la Recherche Scientifique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196433" y="1251452"/>
            <a:ext cx="12429530" cy="464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Université des sciences et de la Technologie Houari Boumediene (USTHB)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985946" y="2207970"/>
            <a:ext cx="10316100" cy="18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faculté informatique département IA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Spécialité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/>
              <a:t>BioInformatique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503275" y="4762875"/>
            <a:ext cx="159522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latin typeface="Lemonada"/>
                <a:ea typeface="Lemonada"/>
                <a:cs typeface="Lemonada"/>
                <a:sym typeface="Lemonada"/>
              </a:rPr>
              <a:t>Système Intelligent de Questions/Réponses pour les Données Psychologiques sur l'Anx</a:t>
            </a:r>
            <a:r>
              <a:rPr b="1" lang="en-US" sz="3800">
                <a:latin typeface="Lemonada"/>
                <a:ea typeface="Lemonada"/>
                <a:cs typeface="Lemonada"/>
                <a:sym typeface="Lemonada"/>
              </a:rPr>
              <a:t>iété</a:t>
            </a:r>
            <a:endParaRPr b="1" i="0" sz="2500" u="none" cap="none" strike="noStrike">
              <a:solidFill>
                <a:srgbClr val="000000"/>
              </a:solidFill>
              <a:latin typeface="Lemonada"/>
              <a:ea typeface="Lemonada"/>
              <a:cs typeface="Lemonada"/>
              <a:sym typeface="Lemonada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4857249" y="7212300"/>
            <a:ext cx="399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Présenté par </a:t>
            </a:r>
            <a:r>
              <a:rPr b="1" lang="en-US" sz="3900">
                <a:latin typeface="Open Sans"/>
                <a:ea typeface="Open Sans"/>
                <a:cs typeface="Open Sans"/>
                <a:sym typeface="Open Sans"/>
              </a:rPr>
              <a:t> :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983749" y="8116000"/>
            <a:ext cx="51396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latin typeface="Belleza"/>
                <a:ea typeface="Belleza"/>
                <a:cs typeface="Belleza"/>
                <a:sym typeface="Belleza"/>
              </a:rPr>
              <a:t>MOKEDDEM</a:t>
            </a:r>
            <a:r>
              <a:rPr b="0" i="0" lang="en-US" sz="3900" u="none" cap="none" strike="noStrike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Souhil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latin typeface="Belleza"/>
                <a:ea typeface="Belleza"/>
                <a:cs typeface="Belleza"/>
                <a:sym typeface="Belleza"/>
              </a:rPr>
              <a:t>GHAMEM DJERIDI Nabil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984100" y="8116000"/>
            <a:ext cx="61242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latin typeface="Belleza"/>
                <a:ea typeface="Belleza"/>
                <a:cs typeface="Belleza"/>
                <a:sym typeface="Belleza"/>
              </a:rPr>
              <a:t>BOUSSAHLA Oussama</a:t>
            </a:r>
            <a:endParaRPr b="0" i="0" sz="3900" u="none" cap="none" strike="noStrike">
              <a:solidFill>
                <a:srgbClr val="000000"/>
              </a:solidFill>
              <a:latin typeface="Belleza"/>
              <a:ea typeface="Belleza"/>
              <a:cs typeface="Belleza"/>
              <a:sym typeface="Belleza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latin typeface="Belleza"/>
                <a:ea typeface="Belleza"/>
                <a:cs typeface="Belleza"/>
                <a:sym typeface="Belleza"/>
              </a:rPr>
              <a:t>SMAILI Mohamed Abdeldjalil</a:t>
            </a:r>
            <a:endParaRPr sz="3900">
              <a:latin typeface="Belleza"/>
              <a:ea typeface="Belleza"/>
              <a:cs typeface="Belleza"/>
              <a:sym typeface="Belleza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15939176" y="446800"/>
            <a:ext cx="1918866" cy="2074133"/>
          </a:xfrm>
          <a:custGeom>
            <a:rect b="b" l="l" r="r" t="t"/>
            <a:pathLst>
              <a:path extrusionOk="0" h="2617203" w="2628584">
                <a:moveTo>
                  <a:pt x="0" y="0"/>
                </a:moveTo>
                <a:lnTo>
                  <a:pt x="2628584" y="0"/>
                </a:lnTo>
                <a:lnTo>
                  <a:pt x="2628584" y="2617203"/>
                </a:lnTo>
                <a:lnTo>
                  <a:pt x="0" y="26172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9" l="0" r="0" t="-219"/>
            </a:stretch>
          </a:blipFill>
          <a:ln>
            <a:noFill/>
          </a:ln>
        </p:spPr>
      </p:sp>
      <p:sp>
        <p:nvSpPr>
          <p:cNvPr id="98" name="Google Shape;98;p13"/>
          <p:cNvSpPr txBox="1"/>
          <p:nvPr/>
        </p:nvSpPr>
        <p:spPr>
          <a:xfrm>
            <a:off x="14858050" y="8408525"/>
            <a:ext cx="3000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chemeClr val="dk1"/>
                </a:solidFill>
                <a:latin typeface="Belleza"/>
                <a:ea typeface="Belleza"/>
                <a:cs typeface="Belleza"/>
                <a:sym typeface="Belleza"/>
              </a:rPr>
              <a:t>2025 / 2026</a:t>
            </a:r>
            <a:endParaRPr sz="3900">
              <a:solidFill>
                <a:schemeClr val="dk1"/>
              </a:solidFill>
              <a:latin typeface="Belleza"/>
              <a:ea typeface="Belleza"/>
              <a:cs typeface="Belleza"/>
              <a:sym typeface="Bellez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2036610" y="2787035"/>
            <a:ext cx="571200" cy="4880700"/>
          </a:xfrm>
          <a:prstGeom prst="rect">
            <a:avLst/>
          </a:prstGeom>
          <a:solidFill>
            <a:srgbClr val="191919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4" name="Google Shape;104;p14"/>
          <p:cNvGrpSpPr/>
          <p:nvPr/>
        </p:nvGrpSpPr>
        <p:grpSpPr>
          <a:xfrm>
            <a:off x="1593565" y="6671512"/>
            <a:ext cx="1298177" cy="1153554"/>
            <a:chOff x="0" y="0"/>
            <a:chExt cx="1950973" cy="1733625"/>
          </a:xfrm>
        </p:grpSpPr>
        <p:pic>
          <p:nvPicPr>
            <p:cNvPr id="105" name="Google Shape;105;p14"/>
            <p:cNvPicPr preferRelativeResize="0"/>
            <p:nvPr/>
          </p:nvPicPr>
          <p:blipFill rotWithShape="1">
            <a:blip r:embed="rId3">
              <a:alphaModFix/>
            </a:blip>
            <a:srcRect b="5569" l="0" r="0" t="5570"/>
            <a:stretch/>
          </p:blipFill>
          <p:spPr>
            <a:xfrm>
              <a:off x="0" y="0"/>
              <a:ext cx="1950973" cy="1733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" name="Google Shape;106;p14"/>
            <p:cNvSpPr txBox="1"/>
            <p:nvPr/>
          </p:nvSpPr>
          <p:spPr>
            <a:xfrm>
              <a:off x="253507" y="457211"/>
              <a:ext cx="1443900" cy="8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</p:grpSp>
      <p:sp>
        <p:nvSpPr>
          <p:cNvPr id="107" name="Google Shape;107;p14"/>
          <p:cNvSpPr/>
          <p:nvPr/>
        </p:nvSpPr>
        <p:spPr>
          <a:xfrm>
            <a:off x="10856513" y="3115093"/>
            <a:ext cx="535200" cy="4572900"/>
          </a:xfrm>
          <a:prstGeom prst="rect">
            <a:avLst/>
          </a:prstGeom>
          <a:solidFill>
            <a:srgbClr val="191919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14"/>
          <p:cNvGrpSpPr/>
          <p:nvPr/>
        </p:nvGrpSpPr>
        <p:grpSpPr>
          <a:xfrm>
            <a:off x="10515918" y="3041499"/>
            <a:ext cx="1216432" cy="1080915"/>
            <a:chOff x="0" y="0"/>
            <a:chExt cx="1950973" cy="1733625"/>
          </a:xfrm>
        </p:grpSpPr>
        <p:pic>
          <p:nvPicPr>
            <p:cNvPr id="109" name="Google Shape;109;p14"/>
            <p:cNvPicPr preferRelativeResize="0"/>
            <p:nvPr/>
          </p:nvPicPr>
          <p:blipFill rotWithShape="1">
            <a:blip r:embed="rId4">
              <a:alphaModFix/>
            </a:blip>
            <a:srcRect b="5569" l="0" r="0" t="5570"/>
            <a:stretch/>
          </p:blipFill>
          <p:spPr>
            <a:xfrm>
              <a:off x="0" y="0"/>
              <a:ext cx="1950973" cy="1733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4"/>
            <p:cNvSpPr txBox="1"/>
            <p:nvPr/>
          </p:nvSpPr>
          <p:spPr>
            <a:xfrm>
              <a:off x="253507" y="457211"/>
              <a:ext cx="1443900" cy="88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/>
            </a:p>
          </p:txBody>
        </p:sp>
      </p:grpSp>
      <p:sp>
        <p:nvSpPr>
          <p:cNvPr id="111" name="Google Shape;111;p14"/>
          <p:cNvSpPr/>
          <p:nvPr/>
        </p:nvSpPr>
        <p:spPr>
          <a:xfrm>
            <a:off x="16355298" y="3194040"/>
            <a:ext cx="564000" cy="4818000"/>
          </a:xfrm>
          <a:prstGeom prst="rect">
            <a:avLst/>
          </a:prstGeom>
          <a:solidFill>
            <a:srgbClr val="191919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14"/>
          <p:cNvGrpSpPr/>
          <p:nvPr/>
        </p:nvGrpSpPr>
        <p:grpSpPr>
          <a:xfrm>
            <a:off x="15996441" y="3116500"/>
            <a:ext cx="1281594" cy="1138818"/>
            <a:chOff x="0" y="0"/>
            <a:chExt cx="1950973" cy="1733625"/>
          </a:xfrm>
        </p:grpSpPr>
        <p:pic>
          <p:nvPicPr>
            <p:cNvPr id="113" name="Google Shape;113;p14"/>
            <p:cNvPicPr preferRelativeResize="0"/>
            <p:nvPr/>
          </p:nvPicPr>
          <p:blipFill rotWithShape="1">
            <a:blip r:embed="rId5">
              <a:alphaModFix/>
            </a:blip>
            <a:srcRect b="5569" l="0" r="0" t="5570"/>
            <a:stretch/>
          </p:blipFill>
          <p:spPr>
            <a:xfrm>
              <a:off x="0" y="0"/>
              <a:ext cx="1950973" cy="1733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4"/>
            <p:cNvSpPr txBox="1"/>
            <p:nvPr/>
          </p:nvSpPr>
          <p:spPr>
            <a:xfrm>
              <a:off x="253507" y="457211"/>
              <a:ext cx="1443900" cy="8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FFFF"/>
                  </a:solidFill>
                </a:rPr>
                <a:t>06</a:t>
              </a:r>
              <a:endParaRPr/>
            </a:p>
          </p:txBody>
        </p:sp>
      </p:grpSp>
      <p:sp>
        <p:nvSpPr>
          <p:cNvPr id="115" name="Google Shape;115;p14"/>
          <p:cNvSpPr/>
          <p:nvPr/>
        </p:nvSpPr>
        <p:spPr>
          <a:xfrm>
            <a:off x="7755008" y="3016143"/>
            <a:ext cx="551700" cy="4713300"/>
          </a:xfrm>
          <a:prstGeom prst="rect">
            <a:avLst/>
          </a:prstGeom>
          <a:solidFill>
            <a:srgbClr val="191919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" name="Google Shape;116;p14"/>
          <p:cNvGrpSpPr/>
          <p:nvPr/>
        </p:nvGrpSpPr>
        <p:grpSpPr>
          <a:xfrm>
            <a:off x="7403939" y="6691281"/>
            <a:ext cx="1253695" cy="1114027"/>
            <a:chOff x="0" y="0"/>
            <a:chExt cx="1950973" cy="1733625"/>
          </a:xfrm>
        </p:grpSpPr>
        <p:pic>
          <p:nvPicPr>
            <p:cNvPr id="117" name="Google Shape;117;p14"/>
            <p:cNvPicPr preferRelativeResize="0"/>
            <p:nvPr/>
          </p:nvPicPr>
          <p:blipFill rotWithShape="1">
            <a:blip r:embed="rId6">
              <a:alphaModFix/>
            </a:blip>
            <a:srcRect b="5569" l="0" r="0" t="5570"/>
            <a:stretch/>
          </p:blipFill>
          <p:spPr>
            <a:xfrm>
              <a:off x="0" y="0"/>
              <a:ext cx="1950973" cy="1733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14"/>
            <p:cNvSpPr txBox="1"/>
            <p:nvPr/>
          </p:nvSpPr>
          <p:spPr>
            <a:xfrm>
              <a:off x="253507" y="457211"/>
              <a:ext cx="1443900" cy="8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/>
            </a:p>
          </p:txBody>
        </p:sp>
      </p:grpSp>
      <p:grpSp>
        <p:nvGrpSpPr>
          <p:cNvPr id="119" name="Google Shape;119;p14"/>
          <p:cNvGrpSpPr/>
          <p:nvPr/>
        </p:nvGrpSpPr>
        <p:grpSpPr>
          <a:xfrm rot="-5400000">
            <a:off x="1850398" y="6099937"/>
            <a:ext cx="806956" cy="236050"/>
            <a:chOff x="0" y="1270"/>
            <a:chExt cx="1727957" cy="505460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86EAE9"/>
            </a:solidFill>
            <a:ln>
              <a:noFill/>
            </a:ln>
          </p:spPr>
        </p:sp>
        <p:sp>
          <p:nvSpPr>
            <p:cNvPr id="121" name="Google Shape;121;p14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86EAE9"/>
            </a:solidFill>
            <a:ln>
              <a:noFill/>
            </a:ln>
          </p:spPr>
        </p:sp>
      </p:grpSp>
      <p:grpSp>
        <p:nvGrpSpPr>
          <p:cNvPr id="122" name="Google Shape;122;p14"/>
          <p:cNvGrpSpPr/>
          <p:nvPr/>
        </p:nvGrpSpPr>
        <p:grpSpPr>
          <a:xfrm rot="5400000">
            <a:off x="10746126" y="4457546"/>
            <a:ext cx="755981" cy="221139"/>
            <a:chOff x="0" y="1270"/>
            <a:chExt cx="1727957" cy="505460"/>
          </a:xfrm>
        </p:grpSpPr>
        <p:sp>
          <p:nvSpPr>
            <p:cNvPr id="123" name="Google Shape;123;p14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124" name="Google Shape;124;p14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</p:grpSp>
      <p:grpSp>
        <p:nvGrpSpPr>
          <p:cNvPr id="125" name="Google Shape;125;p14"/>
          <p:cNvGrpSpPr/>
          <p:nvPr/>
        </p:nvGrpSpPr>
        <p:grpSpPr>
          <a:xfrm rot="5400000">
            <a:off x="16238946" y="4608497"/>
            <a:ext cx="796588" cy="233017"/>
            <a:chOff x="0" y="1270"/>
            <a:chExt cx="1727957" cy="505460"/>
          </a:xfrm>
        </p:grpSpPr>
        <p:sp>
          <p:nvSpPr>
            <p:cNvPr id="126" name="Google Shape;126;p14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  <p:sp>
          <p:nvSpPr>
            <p:cNvPr id="127" name="Google Shape;127;p14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</p:grpSp>
      <p:grpSp>
        <p:nvGrpSpPr>
          <p:cNvPr id="128" name="Google Shape;128;p14"/>
          <p:cNvGrpSpPr/>
          <p:nvPr/>
        </p:nvGrpSpPr>
        <p:grpSpPr>
          <a:xfrm rot="-5400000">
            <a:off x="7641184" y="6117807"/>
            <a:ext cx="779309" cy="227962"/>
            <a:chOff x="0" y="1270"/>
            <a:chExt cx="1727957" cy="505460"/>
          </a:xfrm>
        </p:grpSpPr>
        <p:sp>
          <p:nvSpPr>
            <p:cNvPr id="129" name="Google Shape;129;p14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C92D5"/>
            </a:solidFill>
            <a:ln>
              <a:noFill/>
            </a:ln>
          </p:spPr>
        </p:sp>
        <p:sp>
          <p:nvSpPr>
            <p:cNvPr id="130" name="Google Shape;130;p14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2C92D5"/>
            </a:solidFill>
            <a:ln>
              <a:noFill/>
            </a:ln>
          </p:spPr>
        </p:sp>
      </p:grpSp>
      <p:grpSp>
        <p:nvGrpSpPr>
          <p:cNvPr id="131" name="Google Shape;131;p14"/>
          <p:cNvGrpSpPr/>
          <p:nvPr/>
        </p:nvGrpSpPr>
        <p:grpSpPr>
          <a:xfrm>
            <a:off x="973575" y="3140972"/>
            <a:ext cx="2753018" cy="3813005"/>
            <a:chOff x="-322888" y="-4433993"/>
            <a:chExt cx="4137388" cy="5730395"/>
          </a:xfrm>
        </p:grpSpPr>
        <p:sp>
          <p:nvSpPr>
            <p:cNvPr id="132" name="Google Shape;132;p14"/>
            <p:cNvSpPr txBox="1"/>
            <p:nvPr/>
          </p:nvSpPr>
          <p:spPr>
            <a:xfrm>
              <a:off x="-322888" y="-4433993"/>
              <a:ext cx="3814500" cy="6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  <a:endParaRPr/>
            </a:p>
          </p:txBody>
        </p:sp>
        <p:sp>
          <p:nvSpPr>
            <p:cNvPr id="133" name="Google Shape;133;p14"/>
            <p:cNvSpPr txBox="1"/>
            <p:nvPr/>
          </p:nvSpPr>
          <p:spPr>
            <a:xfrm>
              <a:off x="0" y="880002"/>
              <a:ext cx="3814500" cy="41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14"/>
          <p:cNvGrpSpPr/>
          <p:nvPr/>
        </p:nvGrpSpPr>
        <p:grpSpPr>
          <a:xfrm>
            <a:off x="9465624" y="6225100"/>
            <a:ext cx="3229792" cy="833406"/>
            <a:chOff x="-767286" y="-31406"/>
            <a:chExt cx="5180100" cy="1336658"/>
          </a:xfrm>
        </p:grpSpPr>
        <p:sp>
          <p:nvSpPr>
            <p:cNvPr id="135" name="Google Shape;135;p14"/>
            <p:cNvSpPr txBox="1"/>
            <p:nvPr/>
          </p:nvSpPr>
          <p:spPr>
            <a:xfrm>
              <a:off x="-767286" y="-31406"/>
              <a:ext cx="5180100" cy="6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91919"/>
                  </a:solidFill>
                </a:rPr>
                <a:t>IMPLÉMENTATION</a:t>
              </a:r>
              <a:endParaRPr sz="2800"/>
            </a:p>
          </p:txBody>
        </p:sp>
        <p:sp>
          <p:nvSpPr>
            <p:cNvPr id="136" name="Google Shape;136;p14"/>
            <p:cNvSpPr txBox="1"/>
            <p:nvPr/>
          </p:nvSpPr>
          <p:spPr>
            <a:xfrm>
              <a:off x="0" y="860952"/>
              <a:ext cx="3785400" cy="44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14"/>
          <p:cNvGrpSpPr/>
          <p:nvPr/>
        </p:nvGrpSpPr>
        <p:grpSpPr>
          <a:xfrm>
            <a:off x="6566824" y="2997788"/>
            <a:ext cx="3229713" cy="850442"/>
            <a:chOff x="-574308" y="-31387"/>
            <a:chExt cx="5026008" cy="1323439"/>
          </a:xfrm>
        </p:grpSpPr>
        <p:sp>
          <p:nvSpPr>
            <p:cNvPr id="138" name="Google Shape;138;p14"/>
            <p:cNvSpPr txBox="1"/>
            <p:nvPr/>
          </p:nvSpPr>
          <p:spPr>
            <a:xfrm>
              <a:off x="-574308" y="-31387"/>
              <a:ext cx="50259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91919"/>
                  </a:solidFill>
                </a:rPr>
                <a:t>CONCEPTION</a:t>
              </a:r>
              <a:endParaRPr sz="2800"/>
            </a:p>
          </p:txBody>
        </p:sp>
        <p:sp>
          <p:nvSpPr>
            <p:cNvPr id="139" name="Google Shape;139;p14"/>
            <p:cNvSpPr txBox="1"/>
            <p:nvPr/>
          </p:nvSpPr>
          <p:spPr>
            <a:xfrm>
              <a:off x="0" y="860952"/>
              <a:ext cx="4451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p14"/>
          <p:cNvSpPr txBox="1"/>
          <p:nvPr/>
        </p:nvSpPr>
        <p:spPr>
          <a:xfrm>
            <a:off x="15460325" y="6658411"/>
            <a:ext cx="236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CONCLUSION </a:t>
            </a:r>
            <a:endParaRPr/>
          </a:p>
        </p:txBody>
      </p:sp>
      <p:pic>
        <p:nvPicPr>
          <p:cNvPr id="141" name="Google Shape;14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358330" y="8344745"/>
            <a:ext cx="2220057" cy="222005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4"/>
          <p:cNvSpPr txBox="1"/>
          <p:nvPr/>
        </p:nvSpPr>
        <p:spPr>
          <a:xfrm>
            <a:off x="17172483" y="8993108"/>
            <a:ext cx="64793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1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4971588" y="2874218"/>
            <a:ext cx="535200" cy="45729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4" name="Google Shape;144;p14"/>
          <p:cNvGrpSpPr/>
          <p:nvPr/>
        </p:nvGrpSpPr>
        <p:grpSpPr>
          <a:xfrm>
            <a:off x="4630993" y="2800624"/>
            <a:ext cx="1216433" cy="1080917"/>
            <a:chOff x="0" y="0"/>
            <a:chExt cx="1950975" cy="1733628"/>
          </a:xfrm>
        </p:grpSpPr>
        <p:pic>
          <p:nvPicPr>
            <p:cNvPr id="145" name="Google Shape;145;p14"/>
            <p:cNvPicPr preferRelativeResize="0"/>
            <p:nvPr/>
          </p:nvPicPr>
          <p:blipFill rotWithShape="1">
            <a:blip r:embed="rId4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4"/>
            <p:cNvSpPr txBox="1"/>
            <p:nvPr/>
          </p:nvSpPr>
          <p:spPr>
            <a:xfrm>
              <a:off x="253507" y="457211"/>
              <a:ext cx="1443900" cy="88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US" sz="3600">
                  <a:solidFill>
                    <a:srgbClr val="FFFFFF"/>
                  </a:solidFill>
                </a:rPr>
                <a:t>2</a:t>
              </a:r>
              <a:endParaRPr/>
            </a:p>
          </p:txBody>
        </p:sp>
      </p:grpSp>
      <p:grpSp>
        <p:nvGrpSpPr>
          <p:cNvPr id="147" name="Google Shape;147;p14"/>
          <p:cNvGrpSpPr/>
          <p:nvPr/>
        </p:nvGrpSpPr>
        <p:grpSpPr>
          <a:xfrm rot="5400000">
            <a:off x="4861201" y="4216671"/>
            <a:ext cx="755981" cy="221139"/>
            <a:chOff x="0" y="1270"/>
            <a:chExt cx="1727957" cy="505460"/>
          </a:xfrm>
        </p:grpSpPr>
        <p:sp>
          <p:nvSpPr>
            <p:cNvPr id="148" name="Google Shape;148;p14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149" name="Google Shape;149;p14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</p:grpSp>
      <p:grpSp>
        <p:nvGrpSpPr>
          <p:cNvPr id="150" name="Google Shape;150;p14"/>
          <p:cNvGrpSpPr/>
          <p:nvPr/>
        </p:nvGrpSpPr>
        <p:grpSpPr>
          <a:xfrm>
            <a:off x="4059102" y="5984231"/>
            <a:ext cx="2360197" cy="833401"/>
            <a:chOff x="0" y="-31397"/>
            <a:chExt cx="3785400" cy="1336649"/>
          </a:xfrm>
        </p:grpSpPr>
        <p:sp>
          <p:nvSpPr>
            <p:cNvPr id="151" name="Google Shape;151;p14"/>
            <p:cNvSpPr txBox="1"/>
            <p:nvPr/>
          </p:nvSpPr>
          <p:spPr>
            <a:xfrm>
              <a:off x="0" y="-31397"/>
              <a:ext cx="3785400" cy="6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91919"/>
                  </a:solidFill>
                </a:rPr>
                <a:t>État de l'Art</a:t>
              </a:r>
              <a:endParaRPr sz="2800"/>
            </a:p>
          </p:txBody>
        </p:sp>
        <p:sp>
          <p:nvSpPr>
            <p:cNvPr id="152" name="Google Shape;152;p14"/>
            <p:cNvSpPr txBox="1"/>
            <p:nvPr/>
          </p:nvSpPr>
          <p:spPr>
            <a:xfrm>
              <a:off x="0" y="860952"/>
              <a:ext cx="3785400" cy="44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3" name="Google Shape;153;p14"/>
          <p:cNvSpPr/>
          <p:nvPr/>
        </p:nvSpPr>
        <p:spPr>
          <a:xfrm>
            <a:off x="1949623" y="854250"/>
            <a:ext cx="850500" cy="850500"/>
          </a:xfrm>
          <a:prstGeom prst="donut">
            <a:avLst>
              <a:gd fmla="val 25000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13525729" y="3249035"/>
            <a:ext cx="559200" cy="46305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" name="Google Shape;155;p14"/>
          <p:cNvGrpSpPr/>
          <p:nvPr/>
        </p:nvGrpSpPr>
        <p:grpSpPr>
          <a:xfrm>
            <a:off x="13169830" y="6827077"/>
            <a:ext cx="1271060" cy="1129458"/>
            <a:chOff x="0" y="0"/>
            <a:chExt cx="1950975" cy="1733628"/>
          </a:xfrm>
        </p:grpSpPr>
        <p:pic>
          <p:nvPicPr>
            <p:cNvPr id="156" name="Google Shape;156;p14"/>
            <p:cNvPicPr preferRelativeResize="0"/>
            <p:nvPr/>
          </p:nvPicPr>
          <p:blipFill rotWithShape="1">
            <a:blip r:embed="rId8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14"/>
            <p:cNvSpPr txBox="1"/>
            <p:nvPr/>
          </p:nvSpPr>
          <p:spPr>
            <a:xfrm>
              <a:off x="253507" y="457211"/>
              <a:ext cx="1443900" cy="8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FFFF"/>
                  </a:solidFill>
                </a:rPr>
                <a:t>05</a:t>
              </a:r>
              <a:endParaRPr/>
            </a:p>
          </p:txBody>
        </p:sp>
      </p:grpSp>
      <p:grpSp>
        <p:nvGrpSpPr>
          <p:cNvPr id="158" name="Google Shape;158;p14"/>
          <p:cNvGrpSpPr/>
          <p:nvPr/>
        </p:nvGrpSpPr>
        <p:grpSpPr>
          <a:xfrm rot="-5400000">
            <a:off x="13410342" y="6245717"/>
            <a:ext cx="790022" cy="231096"/>
            <a:chOff x="0" y="1270"/>
            <a:chExt cx="1727957" cy="505460"/>
          </a:xfrm>
        </p:grpSpPr>
        <p:sp>
          <p:nvSpPr>
            <p:cNvPr id="159" name="Google Shape;159;p14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EDAD8"/>
            </a:solidFill>
            <a:ln>
              <a:noFill/>
            </a:ln>
          </p:spPr>
        </p:sp>
        <p:sp>
          <p:nvSpPr>
            <p:cNvPr id="160" name="Google Shape;160;p14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3EDAD8"/>
            </a:solidFill>
            <a:ln>
              <a:noFill/>
            </a:ln>
          </p:spPr>
        </p:sp>
      </p:grpSp>
      <p:grpSp>
        <p:nvGrpSpPr>
          <p:cNvPr id="161" name="Google Shape;161;p14"/>
          <p:cNvGrpSpPr/>
          <p:nvPr/>
        </p:nvGrpSpPr>
        <p:grpSpPr>
          <a:xfrm>
            <a:off x="12695326" y="3048392"/>
            <a:ext cx="2220117" cy="1222572"/>
            <a:chOff x="0" y="-31397"/>
            <a:chExt cx="3407700" cy="1876549"/>
          </a:xfrm>
        </p:grpSpPr>
        <p:sp>
          <p:nvSpPr>
            <p:cNvPr id="162" name="Google Shape;162;p14"/>
            <p:cNvSpPr txBox="1"/>
            <p:nvPr/>
          </p:nvSpPr>
          <p:spPr>
            <a:xfrm>
              <a:off x="0" y="-31397"/>
              <a:ext cx="3407700" cy="66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91919"/>
                  </a:solidFill>
                </a:rPr>
                <a:t>Démo et Tests</a:t>
              </a:r>
              <a:endParaRPr sz="2800"/>
            </a:p>
          </p:txBody>
        </p:sp>
        <p:sp>
          <p:nvSpPr>
            <p:cNvPr id="163" name="Google Shape;163;p14"/>
            <p:cNvSpPr txBox="1"/>
            <p:nvPr/>
          </p:nvSpPr>
          <p:spPr>
            <a:xfrm>
              <a:off x="0" y="1419752"/>
              <a:ext cx="3407700" cy="42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/>
        </p:nvSpPr>
        <p:spPr>
          <a:xfrm>
            <a:off x="3712350" y="460575"/>
            <a:ext cx="10863300" cy="1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00000"/>
                </a:solidFill>
              </a:rPr>
              <a:t>INTRODUCTION</a:t>
            </a:r>
            <a:endParaRPr b="1" sz="6000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00">
                <a:solidFill>
                  <a:srgbClr val="3EDAD8"/>
                </a:solidFill>
              </a:rPr>
              <a:t>Problematiques</a:t>
            </a:r>
            <a:endParaRPr b="1" sz="4300">
              <a:solidFill>
                <a:srgbClr val="3EDAD8"/>
              </a:solidFill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-314725" y="1628650"/>
            <a:ext cx="18387300" cy="83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800">
              <a:solidFill>
                <a:schemeClr val="dk1"/>
              </a:solidFill>
            </a:endParaRPr>
          </a:p>
          <a:p>
            <a:pPr indent="-469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lang="en-US" sz="3800">
                <a:solidFill>
                  <a:schemeClr val="dk1"/>
                </a:solidFill>
              </a:rPr>
              <a:t>Explosion des </a:t>
            </a:r>
            <a:r>
              <a:rPr lang="en-US" sz="3800">
                <a:solidFill>
                  <a:srgbClr val="3EDAD8"/>
                </a:solidFill>
              </a:rPr>
              <a:t>Big Data</a:t>
            </a:r>
            <a:r>
              <a:rPr lang="en-US" sz="3800">
                <a:solidFill>
                  <a:schemeClr val="dk1"/>
                </a:solidFill>
              </a:rPr>
              <a:t> sur l'anxiété (études cliniques, traitements) -&gt; </a:t>
            </a:r>
            <a:r>
              <a:rPr lang="en-US" sz="3800">
                <a:solidFill>
                  <a:srgbClr val="3EDAD8"/>
                </a:solidFill>
              </a:rPr>
              <a:t>l’exploitations?</a:t>
            </a:r>
            <a:endParaRPr sz="3800">
              <a:solidFill>
                <a:srgbClr val="3EDAD8"/>
              </a:solidFill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dk1"/>
              </a:solidFill>
            </a:endParaRPr>
          </a:p>
          <a:p>
            <a:pPr indent="-469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lang="en-US" sz="3800">
                <a:solidFill>
                  <a:schemeClr val="dk1"/>
                </a:solidFill>
              </a:rPr>
              <a:t>Difficulté d'accès à des réponses précises et actualisées </a:t>
            </a:r>
            <a:r>
              <a:rPr lang="en-US" sz="3800">
                <a:solidFill>
                  <a:srgbClr val="3EDAD8"/>
                </a:solidFill>
              </a:rPr>
              <a:t>(Outdated systems)</a:t>
            </a:r>
            <a:endParaRPr b="1" sz="3800">
              <a:solidFill>
                <a:srgbClr val="3EDAD8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800">
              <a:solidFill>
                <a:schemeClr val="dk1"/>
              </a:solidFill>
            </a:endParaRPr>
          </a:p>
          <a:p>
            <a:pPr indent="-469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lang="en-US" sz="3800">
                <a:solidFill>
                  <a:srgbClr val="3EDAD8"/>
                </a:solidFill>
              </a:rPr>
              <a:t>Hétérogénéité </a:t>
            </a:r>
            <a:r>
              <a:rPr lang="en-US" sz="3800">
                <a:solidFill>
                  <a:schemeClr val="dk1"/>
                </a:solidFill>
              </a:rPr>
              <a:t>des sources (PubMed, essais cliniques, guidelines) -&gt; </a:t>
            </a:r>
            <a:r>
              <a:rPr lang="en-US" sz="3800">
                <a:solidFill>
                  <a:srgbClr val="3EDAD8"/>
                </a:solidFill>
              </a:rPr>
              <a:t>difficulte d’avoir un Model de Conaissance Synthetisé.</a:t>
            </a:r>
            <a:endParaRPr sz="3800">
              <a:solidFill>
                <a:srgbClr val="3EDAD8"/>
              </a:solidFill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dk1"/>
              </a:solidFill>
            </a:endParaRPr>
          </a:p>
          <a:p>
            <a:pPr indent="-469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lang="en-US" sz="3800">
                <a:solidFill>
                  <a:srgbClr val="3EDAD8"/>
                </a:solidFill>
              </a:rPr>
              <a:t>Terminologie </a:t>
            </a:r>
            <a:r>
              <a:rPr lang="en-US" sz="3800">
                <a:solidFill>
                  <a:schemeClr val="dk1"/>
                </a:solidFill>
              </a:rPr>
              <a:t>complexe (DSM-5, CIM-11) -&gt; </a:t>
            </a:r>
            <a:r>
              <a:rPr lang="en-US" sz="3800">
                <a:solidFill>
                  <a:srgbClr val="3EDAD8"/>
                </a:solidFill>
              </a:rPr>
              <a:t>dimistifying it for patients.</a:t>
            </a:r>
            <a:endParaRPr sz="3800">
              <a:solidFill>
                <a:srgbClr val="3EDAD8"/>
              </a:solidFill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dk1"/>
              </a:solidFill>
            </a:endParaRPr>
          </a:p>
          <a:p>
            <a:pPr indent="-469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lang="en-US" sz="3800">
                <a:solidFill>
                  <a:schemeClr val="dk1"/>
                </a:solidFill>
              </a:rPr>
              <a:t>Besoin de </a:t>
            </a:r>
            <a:r>
              <a:rPr lang="en-US" sz="3800">
                <a:solidFill>
                  <a:srgbClr val="3EDAD8"/>
                </a:solidFill>
              </a:rPr>
              <a:t>réponses contextualisées</a:t>
            </a:r>
            <a:r>
              <a:rPr lang="en-US" sz="3800">
                <a:solidFill>
                  <a:schemeClr val="dk1"/>
                </a:solidFill>
              </a:rPr>
              <a:t> pour patients/professionnels.</a:t>
            </a:r>
            <a:endParaRPr sz="3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1"/>
              </a:solidFill>
            </a:endParaRPr>
          </a:p>
        </p:txBody>
      </p:sp>
      <p:pic>
        <p:nvPicPr>
          <p:cNvPr id="170" name="Google Shape;1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34941" y="8412101"/>
            <a:ext cx="2238983" cy="2238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5"/>
          <p:cNvSpPr txBox="1"/>
          <p:nvPr/>
        </p:nvSpPr>
        <p:spPr>
          <a:xfrm>
            <a:off x="17030466" y="8955559"/>
            <a:ext cx="64793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2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 txBox="1"/>
          <p:nvPr/>
        </p:nvSpPr>
        <p:spPr>
          <a:xfrm>
            <a:off x="1638300" y="1587900"/>
            <a:ext cx="15726000" cy="76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800">
                <a:solidFill>
                  <a:srgbClr val="3EDAD8"/>
                </a:solidFill>
              </a:rPr>
              <a:t>Objectifs :</a:t>
            </a:r>
            <a:endParaRPr b="1" sz="3800">
              <a:solidFill>
                <a:srgbClr val="3EDAD8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/>
          </a:p>
          <a:p>
            <a:pPr indent="-469900" lvl="0" marL="914400" rtl="0" algn="l">
              <a:spcBef>
                <a:spcPts val="0"/>
              </a:spcBef>
              <a:spcAft>
                <a:spcPts val="0"/>
              </a:spcAft>
              <a:buSzPts val="3800"/>
              <a:buChar char="●"/>
            </a:pPr>
            <a:r>
              <a:rPr lang="en-US" sz="3800"/>
              <a:t>Réduire le délai d'accès à l'information (Systemes Distribues, Parent child Architecture).</a:t>
            </a:r>
            <a:endParaRPr sz="3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/>
          </a:p>
          <a:p>
            <a:pPr indent="-469900" lvl="0" marL="914400" rtl="0" algn="l">
              <a:spcBef>
                <a:spcPts val="0"/>
              </a:spcBef>
              <a:spcAft>
                <a:spcPts val="0"/>
              </a:spcAft>
              <a:buSzPts val="3800"/>
              <a:buChar char="●"/>
            </a:pPr>
            <a:r>
              <a:rPr lang="en-US" sz="3800"/>
              <a:t>Améliorer la précision des réponses sur l'anxiété (vs benchmarks)</a:t>
            </a:r>
            <a:endParaRPr sz="3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800">
                <a:solidFill>
                  <a:srgbClr val="3EDAD8"/>
                </a:solidFill>
              </a:rPr>
              <a:t>Innovation :</a:t>
            </a:r>
            <a:endParaRPr b="1" sz="3800">
              <a:solidFill>
                <a:srgbClr val="3EDA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800"/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SzPts val="3800"/>
              <a:buChar char="●"/>
            </a:pPr>
            <a:r>
              <a:rPr lang="en-US" sz="3800"/>
              <a:t>Architecture hybride (LLM + Big Data) spécialisée anxiété</a:t>
            </a:r>
            <a:endParaRPr sz="3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/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SzPts val="3800"/>
              <a:buChar char="●"/>
            </a:pPr>
            <a:r>
              <a:rPr lang="en-US" sz="3800"/>
              <a:t>Routage dynamique (LLM router) des requêtes (clinique vs recherche)</a:t>
            </a:r>
            <a:endParaRPr sz="3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/>
          </a:p>
        </p:txBody>
      </p:sp>
      <p:pic>
        <p:nvPicPr>
          <p:cNvPr id="177" name="Google Shape;1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28168" y="8267700"/>
            <a:ext cx="2288435" cy="228843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 txBox="1"/>
          <p:nvPr/>
        </p:nvSpPr>
        <p:spPr>
          <a:xfrm>
            <a:off x="17048418" y="8904085"/>
            <a:ext cx="64793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3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/>
          <p:nvPr/>
        </p:nvSpPr>
        <p:spPr>
          <a:xfrm>
            <a:off x="2189010" y="2939435"/>
            <a:ext cx="571200" cy="48807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4" name="Google Shape;184;p17"/>
          <p:cNvGrpSpPr/>
          <p:nvPr/>
        </p:nvGrpSpPr>
        <p:grpSpPr>
          <a:xfrm>
            <a:off x="1745965" y="6823912"/>
            <a:ext cx="1298179" cy="1153556"/>
            <a:chOff x="0" y="0"/>
            <a:chExt cx="1950975" cy="1733628"/>
          </a:xfrm>
        </p:grpSpPr>
        <p:pic>
          <p:nvPicPr>
            <p:cNvPr id="185" name="Google Shape;185;p17"/>
            <p:cNvPicPr preferRelativeResize="0"/>
            <p:nvPr/>
          </p:nvPicPr>
          <p:blipFill rotWithShape="1">
            <a:blip r:embed="rId3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17"/>
            <p:cNvSpPr txBox="1"/>
            <p:nvPr/>
          </p:nvSpPr>
          <p:spPr>
            <a:xfrm>
              <a:off x="253507" y="457211"/>
              <a:ext cx="1443900" cy="8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</p:grpSp>
      <p:sp>
        <p:nvSpPr>
          <p:cNvPr id="187" name="Google Shape;187;p17"/>
          <p:cNvSpPr/>
          <p:nvPr/>
        </p:nvSpPr>
        <p:spPr>
          <a:xfrm>
            <a:off x="11008913" y="3267493"/>
            <a:ext cx="535200" cy="45729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8" name="Google Shape;188;p17"/>
          <p:cNvGrpSpPr/>
          <p:nvPr/>
        </p:nvGrpSpPr>
        <p:grpSpPr>
          <a:xfrm>
            <a:off x="10668318" y="3193899"/>
            <a:ext cx="1216433" cy="1080917"/>
            <a:chOff x="0" y="0"/>
            <a:chExt cx="1950975" cy="1733628"/>
          </a:xfrm>
        </p:grpSpPr>
        <p:pic>
          <p:nvPicPr>
            <p:cNvPr id="189" name="Google Shape;189;p17"/>
            <p:cNvPicPr preferRelativeResize="0"/>
            <p:nvPr/>
          </p:nvPicPr>
          <p:blipFill rotWithShape="1">
            <a:blip r:embed="rId4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17"/>
            <p:cNvSpPr txBox="1"/>
            <p:nvPr/>
          </p:nvSpPr>
          <p:spPr>
            <a:xfrm>
              <a:off x="253507" y="457211"/>
              <a:ext cx="1443900" cy="88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/>
            </a:p>
          </p:txBody>
        </p:sp>
      </p:grpSp>
      <p:sp>
        <p:nvSpPr>
          <p:cNvPr id="191" name="Google Shape;191;p17"/>
          <p:cNvSpPr/>
          <p:nvPr/>
        </p:nvSpPr>
        <p:spPr>
          <a:xfrm>
            <a:off x="16507698" y="3346440"/>
            <a:ext cx="564000" cy="48180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2" name="Google Shape;192;p17"/>
          <p:cNvGrpSpPr/>
          <p:nvPr/>
        </p:nvGrpSpPr>
        <p:grpSpPr>
          <a:xfrm>
            <a:off x="16148841" y="3268900"/>
            <a:ext cx="1281596" cy="1138820"/>
            <a:chOff x="0" y="0"/>
            <a:chExt cx="1950975" cy="1733628"/>
          </a:xfrm>
        </p:grpSpPr>
        <p:pic>
          <p:nvPicPr>
            <p:cNvPr id="193" name="Google Shape;193;p17"/>
            <p:cNvPicPr preferRelativeResize="0"/>
            <p:nvPr/>
          </p:nvPicPr>
          <p:blipFill rotWithShape="1">
            <a:blip r:embed="rId5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p17"/>
            <p:cNvSpPr txBox="1"/>
            <p:nvPr/>
          </p:nvSpPr>
          <p:spPr>
            <a:xfrm>
              <a:off x="253507" y="457211"/>
              <a:ext cx="1443900" cy="8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FFFF"/>
                  </a:solidFill>
                </a:rPr>
                <a:t>06</a:t>
              </a:r>
              <a:endParaRPr/>
            </a:p>
          </p:txBody>
        </p:sp>
      </p:grpSp>
      <p:sp>
        <p:nvSpPr>
          <p:cNvPr id="195" name="Google Shape;195;p17"/>
          <p:cNvSpPr/>
          <p:nvPr/>
        </p:nvSpPr>
        <p:spPr>
          <a:xfrm>
            <a:off x="7907408" y="3168543"/>
            <a:ext cx="551700" cy="47133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6" name="Google Shape;196;p17"/>
          <p:cNvGrpSpPr/>
          <p:nvPr/>
        </p:nvGrpSpPr>
        <p:grpSpPr>
          <a:xfrm>
            <a:off x="7556339" y="6843681"/>
            <a:ext cx="1253697" cy="1114029"/>
            <a:chOff x="0" y="0"/>
            <a:chExt cx="1950975" cy="1733628"/>
          </a:xfrm>
        </p:grpSpPr>
        <p:pic>
          <p:nvPicPr>
            <p:cNvPr id="197" name="Google Shape;197;p17"/>
            <p:cNvPicPr preferRelativeResize="0"/>
            <p:nvPr/>
          </p:nvPicPr>
          <p:blipFill rotWithShape="1">
            <a:blip r:embed="rId6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17"/>
            <p:cNvSpPr txBox="1"/>
            <p:nvPr/>
          </p:nvSpPr>
          <p:spPr>
            <a:xfrm>
              <a:off x="253507" y="457211"/>
              <a:ext cx="1443900" cy="8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/>
            </a:p>
          </p:txBody>
        </p:sp>
      </p:grpSp>
      <p:grpSp>
        <p:nvGrpSpPr>
          <p:cNvPr id="199" name="Google Shape;199;p17"/>
          <p:cNvGrpSpPr/>
          <p:nvPr/>
        </p:nvGrpSpPr>
        <p:grpSpPr>
          <a:xfrm rot="-5400000">
            <a:off x="2002798" y="6252337"/>
            <a:ext cx="806956" cy="236050"/>
            <a:chOff x="0" y="1270"/>
            <a:chExt cx="1727957" cy="505460"/>
          </a:xfrm>
        </p:grpSpPr>
        <p:sp>
          <p:nvSpPr>
            <p:cNvPr id="200" name="Google Shape;200;p17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86EAE9"/>
            </a:solidFill>
            <a:ln>
              <a:noFill/>
            </a:ln>
          </p:spPr>
        </p:sp>
        <p:sp>
          <p:nvSpPr>
            <p:cNvPr id="201" name="Google Shape;201;p17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86EAE9"/>
            </a:solidFill>
            <a:ln>
              <a:noFill/>
            </a:ln>
          </p:spPr>
        </p:sp>
      </p:grpSp>
      <p:grpSp>
        <p:nvGrpSpPr>
          <p:cNvPr id="202" name="Google Shape;202;p17"/>
          <p:cNvGrpSpPr/>
          <p:nvPr/>
        </p:nvGrpSpPr>
        <p:grpSpPr>
          <a:xfrm rot="5400000">
            <a:off x="10898526" y="4609946"/>
            <a:ext cx="755981" cy="221139"/>
            <a:chOff x="0" y="1270"/>
            <a:chExt cx="1727957" cy="505460"/>
          </a:xfrm>
        </p:grpSpPr>
        <p:sp>
          <p:nvSpPr>
            <p:cNvPr id="203" name="Google Shape;203;p17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204" name="Google Shape;204;p17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</p:grpSp>
      <p:grpSp>
        <p:nvGrpSpPr>
          <p:cNvPr id="205" name="Google Shape;205;p17"/>
          <p:cNvGrpSpPr/>
          <p:nvPr/>
        </p:nvGrpSpPr>
        <p:grpSpPr>
          <a:xfrm rot="5400000">
            <a:off x="16391346" y="4760897"/>
            <a:ext cx="796588" cy="233017"/>
            <a:chOff x="0" y="1270"/>
            <a:chExt cx="1727957" cy="505460"/>
          </a:xfrm>
        </p:grpSpPr>
        <p:sp>
          <p:nvSpPr>
            <p:cNvPr id="206" name="Google Shape;206;p17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  <p:sp>
          <p:nvSpPr>
            <p:cNvPr id="207" name="Google Shape;207;p17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</p:grpSp>
      <p:grpSp>
        <p:nvGrpSpPr>
          <p:cNvPr id="208" name="Google Shape;208;p17"/>
          <p:cNvGrpSpPr/>
          <p:nvPr/>
        </p:nvGrpSpPr>
        <p:grpSpPr>
          <a:xfrm rot="-5400000">
            <a:off x="7793584" y="6270207"/>
            <a:ext cx="779309" cy="227962"/>
            <a:chOff x="0" y="1270"/>
            <a:chExt cx="1727957" cy="505460"/>
          </a:xfrm>
        </p:grpSpPr>
        <p:sp>
          <p:nvSpPr>
            <p:cNvPr id="209" name="Google Shape;209;p17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C92D5"/>
            </a:solidFill>
            <a:ln>
              <a:noFill/>
            </a:ln>
          </p:spPr>
        </p:sp>
        <p:sp>
          <p:nvSpPr>
            <p:cNvPr id="210" name="Google Shape;210;p17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2C92D5"/>
            </a:solidFill>
            <a:ln>
              <a:noFill/>
            </a:ln>
          </p:spPr>
        </p:sp>
      </p:grpSp>
      <p:grpSp>
        <p:nvGrpSpPr>
          <p:cNvPr id="211" name="Google Shape;211;p17"/>
          <p:cNvGrpSpPr/>
          <p:nvPr/>
        </p:nvGrpSpPr>
        <p:grpSpPr>
          <a:xfrm>
            <a:off x="1125975" y="3293372"/>
            <a:ext cx="2753018" cy="3813005"/>
            <a:chOff x="-322888" y="-4433993"/>
            <a:chExt cx="4137388" cy="5730395"/>
          </a:xfrm>
        </p:grpSpPr>
        <p:sp>
          <p:nvSpPr>
            <p:cNvPr id="212" name="Google Shape;212;p17"/>
            <p:cNvSpPr txBox="1"/>
            <p:nvPr/>
          </p:nvSpPr>
          <p:spPr>
            <a:xfrm>
              <a:off x="-322888" y="-4433993"/>
              <a:ext cx="3814500" cy="6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  <a:endParaRPr/>
            </a:p>
          </p:txBody>
        </p:sp>
        <p:sp>
          <p:nvSpPr>
            <p:cNvPr id="213" name="Google Shape;213;p17"/>
            <p:cNvSpPr txBox="1"/>
            <p:nvPr/>
          </p:nvSpPr>
          <p:spPr>
            <a:xfrm>
              <a:off x="0" y="880002"/>
              <a:ext cx="3814500" cy="41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17"/>
          <p:cNvGrpSpPr/>
          <p:nvPr/>
        </p:nvGrpSpPr>
        <p:grpSpPr>
          <a:xfrm>
            <a:off x="9618024" y="6377500"/>
            <a:ext cx="3229792" cy="833406"/>
            <a:chOff x="-767286" y="-31406"/>
            <a:chExt cx="5180100" cy="1336658"/>
          </a:xfrm>
        </p:grpSpPr>
        <p:sp>
          <p:nvSpPr>
            <p:cNvPr id="215" name="Google Shape;215;p17"/>
            <p:cNvSpPr txBox="1"/>
            <p:nvPr/>
          </p:nvSpPr>
          <p:spPr>
            <a:xfrm>
              <a:off x="-767286" y="-31406"/>
              <a:ext cx="5180100" cy="6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91919"/>
                  </a:solidFill>
                </a:rPr>
                <a:t>IMPLÉMENTATION</a:t>
              </a:r>
              <a:endParaRPr sz="2800"/>
            </a:p>
          </p:txBody>
        </p:sp>
        <p:sp>
          <p:nvSpPr>
            <p:cNvPr id="216" name="Google Shape;216;p17"/>
            <p:cNvSpPr txBox="1"/>
            <p:nvPr/>
          </p:nvSpPr>
          <p:spPr>
            <a:xfrm>
              <a:off x="0" y="860952"/>
              <a:ext cx="3785400" cy="44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17"/>
          <p:cNvGrpSpPr/>
          <p:nvPr/>
        </p:nvGrpSpPr>
        <p:grpSpPr>
          <a:xfrm>
            <a:off x="6719224" y="3150188"/>
            <a:ext cx="3229713" cy="850442"/>
            <a:chOff x="-574308" y="-31387"/>
            <a:chExt cx="5026008" cy="1323439"/>
          </a:xfrm>
        </p:grpSpPr>
        <p:sp>
          <p:nvSpPr>
            <p:cNvPr id="218" name="Google Shape;218;p17"/>
            <p:cNvSpPr txBox="1"/>
            <p:nvPr/>
          </p:nvSpPr>
          <p:spPr>
            <a:xfrm>
              <a:off x="-574308" y="-31387"/>
              <a:ext cx="50259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91919"/>
                  </a:solidFill>
                </a:rPr>
                <a:t>CONCEPTION</a:t>
              </a:r>
              <a:endParaRPr sz="2800"/>
            </a:p>
          </p:txBody>
        </p:sp>
        <p:sp>
          <p:nvSpPr>
            <p:cNvPr id="219" name="Google Shape;219;p17"/>
            <p:cNvSpPr txBox="1"/>
            <p:nvPr/>
          </p:nvSpPr>
          <p:spPr>
            <a:xfrm>
              <a:off x="0" y="860952"/>
              <a:ext cx="4451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17"/>
          <p:cNvSpPr txBox="1"/>
          <p:nvPr/>
        </p:nvSpPr>
        <p:spPr>
          <a:xfrm>
            <a:off x="15612725" y="6810811"/>
            <a:ext cx="236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CONCLUSION </a:t>
            </a:r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5123988" y="3026618"/>
            <a:ext cx="535200" cy="45729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2" name="Google Shape;222;p17"/>
          <p:cNvGrpSpPr/>
          <p:nvPr/>
        </p:nvGrpSpPr>
        <p:grpSpPr>
          <a:xfrm>
            <a:off x="4783393" y="2953024"/>
            <a:ext cx="1216433" cy="1080917"/>
            <a:chOff x="0" y="0"/>
            <a:chExt cx="1950975" cy="1733628"/>
          </a:xfrm>
        </p:grpSpPr>
        <p:pic>
          <p:nvPicPr>
            <p:cNvPr id="223" name="Google Shape;223;p17"/>
            <p:cNvPicPr preferRelativeResize="0"/>
            <p:nvPr/>
          </p:nvPicPr>
          <p:blipFill rotWithShape="1">
            <a:blip r:embed="rId4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" name="Google Shape;224;p17"/>
            <p:cNvSpPr txBox="1"/>
            <p:nvPr/>
          </p:nvSpPr>
          <p:spPr>
            <a:xfrm>
              <a:off x="253507" y="457211"/>
              <a:ext cx="1443900" cy="88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US" sz="3600">
                  <a:solidFill>
                    <a:srgbClr val="FFFFFF"/>
                  </a:solidFill>
                </a:rPr>
                <a:t>2</a:t>
              </a:r>
              <a:endParaRPr/>
            </a:p>
          </p:txBody>
        </p:sp>
      </p:grpSp>
      <p:grpSp>
        <p:nvGrpSpPr>
          <p:cNvPr id="225" name="Google Shape;225;p17"/>
          <p:cNvGrpSpPr/>
          <p:nvPr/>
        </p:nvGrpSpPr>
        <p:grpSpPr>
          <a:xfrm rot="5400000">
            <a:off x="5013601" y="4369071"/>
            <a:ext cx="755981" cy="221139"/>
            <a:chOff x="0" y="1270"/>
            <a:chExt cx="1727957" cy="505460"/>
          </a:xfrm>
        </p:grpSpPr>
        <p:sp>
          <p:nvSpPr>
            <p:cNvPr id="226" name="Google Shape;226;p17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227" name="Google Shape;227;p17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</p:grpSp>
      <p:grpSp>
        <p:nvGrpSpPr>
          <p:cNvPr id="228" name="Google Shape;228;p17"/>
          <p:cNvGrpSpPr/>
          <p:nvPr/>
        </p:nvGrpSpPr>
        <p:grpSpPr>
          <a:xfrm>
            <a:off x="4211502" y="6136631"/>
            <a:ext cx="2360197" cy="833401"/>
            <a:chOff x="0" y="-31397"/>
            <a:chExt cx="3785400" cy="1336649"/>
          </a:xfrm>
        </p:grpSpPr>
        <p:sp>
          <p:nvSpPr>
            <p:cNvPr id="229" name="Google Shape;229;p17"/>
            <p:cNvSpPr txBox="1"/>
            <p:nvPr/>
          </p:nvSpPr>
          <p:spPr>
            <a:xfrm>
              <a:off x="0" y="-31397"/>
              <a:ext cx="3785400" cy="6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91919"/>
                  </a:solidFill>
                </a:rPr>
                <a:t>État de l'Art</a:t>
              </a:r>
              <a:endParaRPr sz="2800"/>
            </a:p>
          </p:txBody>
        </p:sp>
        <p:sp>
          <p:nvSpPr>
            <p:cNvPr id="230" name="Google Shape;230;p17"/>
            <p:cNvSpPr txBox="1"/>
            <p:nvPr/>
          </p:nvSpPr>
          <p:spPr>
            <a:xfrm>
              <a:off x="0" y="860952"/>
              <a:ext cx="3785400" cy="44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p17"/>
          <p:cNvSpPr/>
          <p:nvPr/>
        </p:nvSpPr>
        <p:spPr>
          <a:xfrm>
            <a:off x="4966336" y="1036125"/>
            <a:ext cx="850500" cy="850500"/>
          </a:xfrm>
          <a:prstGeom prst="donut">
            <a:avLst>
              <a:gd fmla="val 25000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13678129" y="3401435"/>
            <a:ext cx="559200" cy="46305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3" name="Google Shape;233;p17"/>
          <p:cNvGrpSpPr/>
          <p:nvPr/>
        </p:nvGrpSpPr>
        <p:grpSpPr>
          <a:xfrm>
            <a:off x="13322230" y="6979477"/>
            <a:ext cx="1271060" cy="1129458"/>
            <a:chOff x="0" y="0"/>
            <a:chExt cx="1950975" cy="1733628"/>
          </a:xfrm>
        </p:grpSpPr>
        <p:pic>
          <p:nvPicPr>
            <p:cNvPr id="234" name="Google Shape;234;p17"/>
            <p:cNvPicPr preferRelativeResize="0"/>
            <p:nvPr/>
          </p:nvPicPr>
          <p:blipFill rotWithShape="1">
            <a:blip r:embed="rId7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17"/>
            <p:cNvSpPr txBox="1"/>
            <p:nvPr/>
          </p:nvSpPr>
          <p:spPr>
            <a:xfrm>
              <a:off x="253507" y="457211"/>
              <a:ext cx="1443900" cy="8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FFFF"/>
                  </a:solidFill>
                </a:rPr>
                <a:t>05</a:t>
              </a:r>
              <a:endParaRPr/>
            </a:p>
          </p:txBody>
        </p:sp>
      </p:grpSp>
      <p:grpSp>
        <p:nvGrpSpPr>
          <p:cNvPr id="236" name="Google Shape;236;p17"/>
          <p:cNvGrpSpPr/>
          <p:nvPr/>
        </p:nvGrpSpPr>
        <p:grpSpPr>
          <a:xfrm rot="-5400000">
            <a:off x="13562742" y="6398117"/>
            <a:ext cx="790022" cy="231096"/>
            <a:chOff x="0" y="1270"/>
            <a:chExt cx="1727957" cy="505460"/>
          </a:xfrm>
        </p:grpSpPr>
        <p:sp>
          <p:nvSpPr>
            <p:cNvPr id="237" name="Google Shape;237;p17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EDAD8"/>
            </a:solidFill>
            <a:ln>
              <a:noFill/>
            </a:ln>
          </p:spPr>
        </p:sp>
        <p:sp>
          <p:nvSpPr>
            <p:cNvPr id="238" name="Google Shape;238;p17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3EDAD8"/>
            </a:solidFill>
            <a:ln>
              <a:noFill/>
            </a:ln>
          </p:spPr>
        </p:sp>
      </p:grpSp>
      <p:grpSp>
        <p:nvGrpSpPr>
          <p:cNvPr id="239" name="Google Shape;239;p17"/>
          <p:cNvGrpSpPr/>
          <p:nvPr/>
        </p:nvGrpSpPr>
        <p:grpSpPr>
          <a:xfrm>
            <a:off x="12847726" y="3200792"/>
            <a:ext cx="2220117" cy="1222572"/>
            <a:chOff x="0" y="-31397"/>
            <a:chExt cx="3407700" cy="1876549"/>
          </a:xfrm>
        </p:grpSpPr>
        <p:sp>
          <p:nvSpPr>
            <p:cNvPr id="240" name="Google Shape;240;p17"/>
            <p:cNvSpPr txBox="1"/>
            <p:nvPr/>
          </p:nvSpPr>
          <p:spPr>
            <a:xfrm>
              <a:off x="0" y="-31397"/>
              <a:ext cx="3407700" cy="66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91919"/>
                  </a:solidFill>
                </a:rPr>
                <a:t>Démo et Tests</a:t>
              </a:r>
              <a:endParaRPr sz="2800"/>
            </a:p>
          </p:txBody>
        </p:sp>
        <p:sp>
          <p:nvSpPr>
            <p:cNvPr id="241" name="Google Shape;241;p17"/>
            <p:cNvSpPr txBox="1"/>
            <p:nvPr/>
          </p:nvSpPr>
          <p:spPr>
            <a:xfrm>
              <a:off x="0" y="1419752"/>
              <a:ext cx="3407700" cy="42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2" name="Google Shape;24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148843" y="7977483"/>
            <a:ext cx="2220058" cy="2220057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7"/>
          <p:cNvSpPr txBox="1"/>
          <p:nvPr/>
        </p:nvSpPr>
        <p:spPr>
          <a:xfrm>
            <a:off x="16962996" y="8625846"/>
            <a:ext cx="648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4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"/>
          <p:cNvSpPr txBox="1"/>
          <p:nvPr/>
        </p:nvSpPr>
        <p:spPr>
          <a:xfrm>
            <a:off x="1093500" y="2539375"/>
            <a:ext cx="15493500" cy="6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00">
                <a:solidFill>
                  <a:schemeClr val="dk1"/>
                </a:solidFill>
              </a:rPr>
              <a:t>🔹</a:t>
            </a:r>
            <a:r>
              <a:rPr lang="en-US" sz="3800">
                <a:solidFill>
                  <a:schemeClr val="dk1"/>
                </a:solidFill>
              </a:rPr>
              <a:t>Big Data</a:t>
            </a:r>
            <a:endParaRPr sz="3800">
              <a:solidFill>
                <a:schemeClr val="dk1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00">
                <a:solidFill>
                  <a:schemeClr val="dk1"/>
                </a:solidFill>
              </a:rPr>
              <a:t>➔ Gestion de volumes massifs (Volumes), diversité des formats (Variety), et flux rapides de </a:t>
            </a:r>
            <a:r>
              <a:rPr lang="en-US" sz="3800">
                <a:solidFill>
                  <a:schemeClr val="dk1"/>
                </a:solidFill>
              </a:rPr>
              <a:t>données (Velocity) -&gt;</a:t>
            </a:r>
            <a:r>
              <a:rPr lang="en-US" sz="3800">
                <a:solidFill>
                  <a:srgbClr val="3EDAD8"/>
                </a:solidFill>
              </a:rPr>
              <a:t>les 3Vs</a:t>
            </a:r>
            <a:endParaRPr sz="3800">
              <a:solidFill>
                <a:srgbClr val="3EDAD8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00">
                <a:solidFill>
                  <a:schemeClr val="dk1"/>
                </a:solidFill>
              </a:rPr>
              <a:t>🔹 Récupération Augmentée (RAG)</a:t>
            </a:r>
            <a:endParaRPr sz="3800">
              <a:solidFill>
                <a:schemeClr val="dk1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00">
                <a:solidFill>
                  <a:schemeClr val="dk1"/>
                </a:solidFill>
              </a:rPr>
              <a:t>➔ Accélération des recherches avec indexation vectorielle, cache et génération via LLMs.</a:t>
            </a:r>
            <a:endParaRPr sz="3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00">
                <a:solidFill>
                  <a:schemeClr val="dk1"/>
                </a:solidFill>
              </a:rPr>
              <a:t>🔹 Traitement Distribué</a:t>
            </a:r>
            <a:endParaRPr sz="3800">
              <a:solidFill>
                <a:schemeClr val="dk1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dk1"/>
                </a:solidFill>
              </a:rPr>
              <a:t>➔ Traitement parallèle des données massives avec Hadoop MapReduce et Spark en mémoire.</a:t>
            </a:r>
            <a:endParaRPr sz="3800">
              <a:solidFill>
                <a:schemeClr val="dk1"/>
              </a:solidFill>
            </a:endParaRPr>
          </a:p>
        </p:txBody>
      </p:sp>
      <p:pic>
        <p:nvPicPr>
          <p:cNvPr id="249" name="Google Shape;2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43735" y="8343900"/>
            <a:ext cx="2259732" cy="225973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8"/>
          <p:cNvSpPr txBox="1"/>
          <p:nvPr/>
        </p:nvSpPr>
        <p:spPr>
          <a:xfrm>
            <a:off x="17049634" y="8965934"/>
            <a:ext cx="64793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5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251" name="Google Shape;251;p18"/>
          <p:cNvSpPr txBox="1"/>
          <p:nvPr/>
        </p:nvSpPr>
        <p:spPr>
          <a:xfrm>
            <a:off x="1093501" y="1769875"/>
            <a:ext cx="14630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 u="sng">
              <a:solidFill>
                <a:schemeClr val="dk1"/>
              </a:solidFill>
            </a:endParaRPr>
          </a:p>
        </p:txBody>
      </p:sp>
      <p:sp>
        <p:nvSpPr>
          <p:cNvPr id="252" name="Google Shape;252;p18"/>
          <p:cNvSpPr txBox="1"/>
          <p:nvPr/>
        </p:nvSpPr>
        <p:spPr>
          <a:xfrm>
            <a:off x="3712350" y="460575"/>
            <a:ext cx="108633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/>
              <a:t>Etat de l’art</a:t>
            </a:r>
            <a:endParaRPr b="1" sz="6000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00">
                <a:solidFill>
                  <a:srgbClr val="3EDAD8"/>
                </a:solidFill>
              </a:rPr>
              <a:t>Concepts </a:t>
            </a:r>
            <a:r>
              <a:rPr b="1" lang="en-US" sz="4400" u="sng">
                <a:solidFill>
                  <a:srgbClr val="3EDAD8"/>
                </a:solidFill>
              </a:rPr>
              <a:t>clés</a:t>
            </a:r>
            <a:endParaRPr b="1" sz="4300">
              <a:solidFill>
                <a:srgbClr val="3EDAD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9"/>
          <p:cNvSpPr txBox="1"/>
          <p:nvPr/>
        </p:nvSpPr>
        <p:spPr>
          <a:xfrm>
            <a:off x="3580350" y="501425"/>
            <a:ext cx="11337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</a:rPr>
              <a:t>RAG</a:t>
            </a:r>
            <a:endParaRPr sz="6000">
              <a:solidFill>
                <a:schemeClr val="dk1"/>
              </a:solidFill>
            </a:endParaRPr>
          </a:p>
        </p:txBody>
      </p:sp>
      <p:pic>
        <p:nvPicPr>
          <p:cNvPr id="258" name="Google Shape;2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43735" y="8343900"/>
            <a:ext cx="2259733" cy="225973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9"/>
          <p:cNvSpPr txBox="1"/>
          <p:nvPr/>
        </p:nvSpPr>
        <p:spPr>
          <a:xfrm>
            <a:off x="17049634" y="8965934"/>
            <a:ext cx="648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6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1093501" y="1769875"/>
            <a:ext cx="14630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 u="sng">
              <a:solidFill>
                <a:schemeClr val="dk1"/>
              </a:solidFill>
            </a:endParaRPr>
          </a:p>
        </p:txBody>
      </p:sp>
      <p:pic>
        <p:nvPicPr>
          <p:cNvPr id="261" name="Google Shape;261;p19" title="RAG_SY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2863" y="1769875"/>
            <a:ext cx="14057668" cy="7442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 txBox="1"/>
          <p:nvPr/>
        </p:nvSpPr>
        <p:spPr>
          <a:xfrm>
            <a:off x="1093500" y="2539375"/>
            <a:ext cx="15493500" cy="6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00">
                <a:solidFill>
                  <a:schemeClr val="dk1"/>
                </a:solidFill>
              </a:rPr>
              <a:t>🔹Big Data</a:t>
            </a:r>
            <a:endParaRPr sz="3800">
              <a:solidFill>
                <a:schemeClr val="dk1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00">
                <a:solidFill>
                  <a:schemeClr val="dk1"/>
                </a:solidFill>
              </a:rPr>
              <a:t>➔ Gestion de volumes massifs (Volumes), diversité des formats (Variety), et flux rapides de données (Velocity) -&gt;</a:t>
            </a:r>
            <a:r>
              <a:rPr lang="en-US" sz="3800">
                <a:solidFill>
                  <a:srgbClr val="3EDAD8"/>
                </a:solidFill>
              </a:rPr>
              <a:t>les 3Vs</a:t>
            </a:r>
            <a:endParaRPr sz="3800">
              <a:solidFill>
                <a:srgbClr val="3EDAD8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00">
                <a:solidFill>
                  <a:schemeClr val="dk1"/>
                </a:solidFill>
              </a:rPr>
              <a:t>🔹 Récupération Augmentée (RAG)</a:t>
            </a:r>
            <a:endParaRPr sz="3800">
              <a:solidFill>
                <a:schemeClr val="dk1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00">
                <a:solidFill>
                  <a:schemeClr val="dk1"/>
                </a:solidFill>
              </a:rPr>
              <a:t>➔ Accélération des recherches avec indexation vectorielle, cache et génération via LLMs.</a:t>
            </a:r>
            <a:endParaRPr sz="3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00">
                <a:solidFill>
                  <a:schemeClr val="dk1"/>
                </a:solidFill>
              </a:rPr>
              <a:t>🔹 Traitement Distribué</a:t>
            </a:r>
            <a:endParaRPr sz="3800">
              <a:solidFill>
                <a:schemeClr val="dk1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dk1"/>
                </a:solidFill>
              </a:rPr>
              <a:t>➔ Traitement parallèle des données massives avec Hadoop MapReduce et Spark en mémoire.</a:t>
            </a:r>
            <a:endParaRPr sz="3800">
              <a:solidFill>
                <a:schemeClr val="dk1"/>
              </a:solidFill>
            </a:endParaRPr>
          </a:p>
        </p:txBody>
      </p:sp>
      <p:pic>
        <p:nvPicPr>
          <p:cNvPr id="267" name="Google Shape;2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43735" y="8343900"/>
            <a:ext cx="2259733" cy="2259732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0"/>
          <p:cNvSpPr txBox="1"/>
          <p:nvPr/>
        </p:nvSpPr>
        <p:spPr>
          <a:xfrm>
            <a:off x="17049634" y="8965934"/>
            <a:ext cx="648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7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1093501" y="1769875"/>
            <a:ext cx="14630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 u="sng">
              <a:solidFill>
                <a:schemeClr val="dk1"/>
              </a:solidFill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3712350" y="460575"/>
            <a:ext cx="108633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/>
              <a:t>Etat de l’art</a:t>
            </a:r>
            <a:endParaRPr b="1" sz="6000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00">
                <a:solidFill>
                  <a:srgbClr val="3EDAD8"/>
                </a:solidFill>
              </a:rPr>
              <a:t>Concepts </a:t>
            </a:r>
            <a:r>
              <a:rPr b="1" lang="en-US" sz="4400" u="sng">
                <a:solidFill>
                  <a:srgbClr val="3EDAD8"/>
                </a:solidFill>
              </a:rPr>
              <a:t>clés</a:t>
            </a:r>
            <a:endParaRPr b="1" sz="4300">
              <a:solidFill>
                <a:srgbClr val="3EDAD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 txBox="1"/>
          <p:nvPr/>
        </p:nvSpPr>
        <p:spPr>
          <a:xfrm>
            <a:off x="3602850" y="794050"/>
            <a:ext cx="11337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dk1"/>
              </a:solidFill>
            </a:endParaRPr>
          </a:p>
        </p:txBody>
      </p:sp>
      <p:pic>
        <p:nvPicPr>
          <p:cNvPr id="276" name="Google Shape;2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43735" y="8343900"/>
            <a:ext cx="2259733" cy="225973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1"/>
          <p:cNvSpPr txBox="1"/>
          <p:nvPr/>
        </p:nvSpPr>
        <p:spPr>
          <a:xfrm>
            <a:off x="17049634" y="8965934"/>
            <a:ext cx="648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8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1093501" y="1769875"/>
            <a:ext cx="14630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 u="sng">
              <a:solidFill>
                <a:schemeClr val="dk1"/>
              </a:solidFill>
            </a:endParaRPr>
          </a:p>
        </p:txBody>
      </p:sp>
      <p:pic>
        <p:nvPicPr>
          <p:cNvPr id="279" name="Google Shape;27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3500" y="944225"/>
            <a:ext cx="15019049" cy="843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2"/>
          <p:cNvSpPr txBox="1"/>
          <p:nvPr/>
        </p:nvSpPr>
        <p:spPr>
          <a:xfrm>
            <a:off x="3602850" y="794050"/>
            <a:ext cx="11337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dk1"/>
              </a:solidFill>
            </a:endParaRPr>
          </a:p>
        </p:txBody>
      </p:sp>
      <p:pic>
        <p:nvPicPr>
          <p:cNvPr id="285" name="Google Shape;2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43735" y="8343900"/>
            <a:ext cx="2259733" cy="2259732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 txBox="1"/>
          <p:nvPr/>
        </p:nvSpPr>
        <p:spPr>
          <a:xfrm>
            <a:off x="17049634" y="8965934"/>
            <a:ext cx="648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9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1093501" y="1769875"/>
            <a:ext cx="14630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 u="sng">
              <a:solidFill>
                <a:schemeClr val="dk1"/>
              </a:solidFill>
            </a:endParaRPr>
          </a:p>
        </p:txBody>
      </p:sp>
      <p:pic>
        <p:nvPicPr>
          <p:cNvPr id="288" name="Google Shape;28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5375" y="930625"/>
            <a:ext cx="16905450" cy="790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3"/>
          <p:cNvSpPr txBox="1"/>
          <p:nvPr/>
        </p:nvSpPr>
        <p:spPr>
          <a:xfrm>
            <a:off x="943225" y="379400"/>
            <a:ext cx="7640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u="sng">
                <a:solidFill>
                  <a:schemeClr val="dk1"/>
                </a:solidFill>
              </a:rPr>
              <a:t>Comparaison Benchmark :</a:t>
            </a:r>
            <a:endParaRPr b="1" sz="4400" u="sng">
              <a:solidFill>
                <a:schemeClr val="dk1"/>
              </a:solidFill>
            </a:endParaRPr>
          </a:p>
        </p:txBody>
      </p:sp>
      <p:graphicFrame>
        <p:nvGraphicFramePr>
          <p:cNvPr id="295" name="Google Shape;295;p23"/>
          <p:cNvGraphicFramePr/>
          <p:nvPr/>
        </p:nvGraphicFramePr>
        <p:xfrm>
          <a:off x="619125" y="203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{278C491C-9EDB-4828-882A-FAB558ADCB67}</a:tableStyleId>
              </a:tblPr>
              <a:tblGrid>
                <a:gridCol w="4095750"/>
                <a:gridCol w="4191000"/>
                <a:gridCol w="4508500"/>
                <a:gridCol w="4254500"/>
              </a:tblGrid>
              <a:tr h="951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800"/>
                        <a:t>Benchmark</a:t>
                      </a:r>
                      <a:endParaRPr b="1" sz="3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800"/>
                        <a:t>Focus</a:t>
                      </a:r>
                      <a:endParaRPr b="1" sz="3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800"/>
                        <a:t>Limites</a:t>
                      </a:r>
                      <a:endParaRPr b="1" sz="3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800"/>
                        <a:t>Notre Amélioration</a:t>
                      </a:r>
                      <a:endParaRPr b="1" sz="3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3F3F3"/>
                    </a:solidFill>
                  </a:tcPr>
                </a:tc>
              </a:tr>
              <a:tr h="1713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>
                          <a:solidFill>
                            <a:srgbClr val="073763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BioASQ</a:t>
                      </a:r>
                      <a:endParaRPr b="1" sz="3600">
                        <a:solidFill>
                          <a:srgbClr val="073763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95250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QA généraliste</a:t>
                      </a:r>
                      <a:endParaRPr sz="3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95250" marL="9525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Peu adapté à l'anxiété</a:t>
                      </a:r>
                      <a:endParaRPr sz="3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95250" marL="9525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Spécialisations sur </a:t>
                      </a:r>
                      <a:r>
                        <a:rPr lang="en-US" sz="3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l'anxiété</a:t>
                      </a:r>
                      <a:endParaRPr sz="3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95250" marL="95250" anchor="ctr"/>
                </a:tc>
              </a:tr>
              <a:tr h="1713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>
                          <a:solidFill>
                            <a:srgbClr val="073763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PubMedQA</a:t>
                      </a:r>
                      <a:endParaRPr b="1" sz="3600">
                        <a:solidFill>
                          <a:srgbClr val="073763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95250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Abstracts PubMed</a:t>
                      </a:r>
                      <a:endParaRPr sz="3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95250" marL="9525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Réponses binaires (oui/non)</a:t>
                      </a:r>
                      <a:endParaRPr sz="3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95250" marL="9525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Synthèse contextuelle</a:t>
                      </a:r>
                      <a:endParaRPr sz="3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95250" marL="95250" anchor="ctr"/>
                </a:tc>
              </a:tr>
              <a:tr h="1713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>
                          <a:solidFill>
                            <a:srgbClr val="073763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emrQA</a:t>
                      </a:r>
                      <a:endParaRPr b="1" sz="3600">
                        <a:solidFill>
                          <a:srgbClr val="073763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95250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Dossiers patients</a:t>
                      </a:r>
                      <a:endParaRPr sz="3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95250" marL="9525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Requêtes templatisées</a:t>
                      </a:r>
                      <a:endParaRPr sz="3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95250" marL="9525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Questions naturelles</a:t>
                      </a:r>
                      <a:endParaRPr sz="3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95250" marL="95250" anchor="ctr"/>
                </a:tc>
              </a:tr>
              <a:tr h="1713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>
                          <a:solidFill>
                            <a:srgbClr val="073763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Notre système</a:t>
                      </a:r>
                      <a:endParaRPr b="1" sz="3600">
                        <a:solidFill>
                          <a:srgbClr val="073763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95250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Anxiété</a:t>
                      </a:r>
                      <a:endParaRPr sz="3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95250" marL="9525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Intégration multi-sources</a:t>
                      </a:r>
                      <a:endParaRPr sz="3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95250" marL="9525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Routage intelligent</a:t>
                      </a:r>
                      <a:endParaRPr sz="3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95250" marL="95250" anchor="ctr"/>
                </a:tc>
              </a:tr>
            </a:tbl>
          </a:graphicData>
        </a:graphic>
      </p:graphicFrame>
      <p:pic>
        <p:nvPicPr>
          <p:cNvPr id="296" name="Google Shape;29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67943" y="8"/>
            <a:ext cx="2220058" cy="2220058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3"/>
          <p:cNvSpPr txBox="1"/>
          <p:nvPr/>
        </p:nvSpPr>
        <p:spPr>
          <a:xfrm>
            <a:off x="16630274" y="602138"/>
            <a:ext cx="1283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11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4"/>
          <p:cNvSpPr/>
          <p:nvPr/>
        </p:nvSpPr>
        <p:spPr>
          <a:xfrm>
            <a:off x="1404622" y="2206272"/>
            <a:ext cx="571200" cy="48807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3" name="Google Shape;303;p24"/>
          <p:cNvGrpSpPr/>
          <p:nvPr/>
        </p:nvGrpSpPr>
        <p:grpSpPr>
          <a:xfrm>
            <a:off x="961578" y="6090750"/>
            <a:ext cx="1298179" cy="1153556"/>
            <a:chOff x="0" y="0"/>
            <a:chExt cx="1950975" cy="1733628"/>
          </a:xfrm>
        </p:grpSpPr>
        <p:pic>
          <p:nvPicPr>
            <p:cNvPr id="304" name="Google Shape;304;p24"/>
            <p:cNvPicPr preferRelativeResize="0"/>
            <p:nvPr/>
          </p:nvPicPr>
          <p:blipFill rotWithShape="1">
            <a:blip r:embed="rId3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5" name="Google Shape;305;p24"/>
            <p:cNvSpPr txBox="1"/>
            <p:nvPr/>
          </p:nvSpPr>
          <p:spPr>
            <a:xfrm>
              <a:off x="253507" y="457211"/>
              <a:ext cx="1443900" cy="8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</p:grpSp>
      <p:sp>
        <p:nvSpPr>
          <p:cNvPr id="306" name="Google Shape;306;p24"/>
          <p:cNvSpPr/>
          <p:nvPr/>
        </p:nvSpPr>
        <p:spPr>
          <a:xfrm>
            <a:off x="10224525" y="2534330"/>
            <a:ext cx="535200" cy="45729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7" name="Google Shape;307;p24"/>
          <p:cNvGrpSpPr/>
          <p:nvPr/>
        </p:nvGrpSpPr>
        <p:grpSpPr>
          <a:xfrm>
            <a:off x="9883930" y="2460736"/>
            <a:ext cx="1216433" cy="1080917"/>
            <a:chOff x="0" y="0"/>
            <a:chExt cx="1950975" cy="1733628"/>
          </a:xfrm>
        </p:grpSpPr>
        <p:pic>
          <p:nvPicPr>
            <p:cNvPr id="308" name="Google Shape;308;p24"/>
            <p:cNvPicPr preferRelativeResize="0"/>
            <p:nvPr/>
          </p:nvPicPr>
          <p:blipFill rotWithShape="1">
            <a:blip r:embed="rId4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9" name="Google Shape;309;p24"/>
            <p:cNvSpPr txBox="1"/>
            <p:nvPr/>
          </p:nvSpPr>
          <p:spPr>
            <a:xfrm>
              <a:off x="253507" y="457211"/>
              <a:ext cx="1443900" cy="88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/>
            </a:p>
          </p:txBody>
        </p:sp>
      </p:grpSp>
      <p:sp>
        <p:nvSpPr>
          <p:cNvPr id="310" name="Google Shape;310;p24"/>
          <p:cNvSpPr/>
          <p:nvPr/>
        </p:nvSpPr>
        <p:spPr>
          <a:xfrm>
            <a:off x="15723311" y="2613278"/>
            <a:ext cx="564000" cy="48180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1" name="Google Shape;311;p24"/>
          <p:cNvGrpSpPr/>
          <p:nvPr/>
        </p:nvGrpSpPr>
        <p:grpSpPr>
          <a:xfrm>
            <a:off x="15364454" y="2535738"/>
            <a:ext cx="1281596" cy="1138820"/>
            <a:chOff x="0" y="0"/>
            <a:chExt cx="1950975" cy="1733628"/>
          </a:xfrm>
        </p:grpSpPr>
        <p:pic>
          <p:nvPicPr>
            <p:cNvPr id="312" name="Google Shape;312;p24"/>
            <p:cNvPicPr preferRelativeResize="0"/>
            <p:nvPr/>
          </p:nvPicPr>
          <p:blipFill rotWithShape="1">
            <a:blip r:embed="rId5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" name="Google Shape;313;p24"/>
            <p:cNvSpPr txBox="1"/>
            <p:nvPr/>
          </p:nvSpPr>
          <p:spPr>
            <a:xfrm>
              <a:off x="253507" y="457211"/>
              <a:ext cx="1443900" cy="8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FFFF"/>
                  </a:solidFill>
                </a:rPr>
                <a:t>06</a:t>
              </a:r>
              <a:endParaRPr/>
            </a:p>
          </p:txBody>
        </p:sp>
      </p:grpSp>
      <p:sp>
        <p:nvSpPr>
          <p:cNvPr id="314" name="Google Shape;314;p24"/>
          <p:cNvSpPr/>
          <p:nvPr/>
        </p:nvSpPr>
        <p:spPr>
          <a:xfrm>
            <a:off x="7123021" y="2435380"/>
            <a:ext cx="551700" cy="47133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5" name="Google Shape;315;p24"/>
          <p:cNvGrpSpPr/>
          <p:nvPr/>
        </p:nvGrpSpPr>
        <p:grpSpPr>
          <a:xfrm>
            <a:off x="6771952" y="6110519"/>
            <a:ext cx="1253697" cy="1114029"/>
            <a:chOff x="0" y="0"/>
            <a:chExt cx="1950975" cy="1733628"/>
          </a:xfrm>
        </p:grpSpPr>
        <p:pic>
          <p:nvPicPr>
            <p:cNvPr id="316" name="Google Shape;316;p24"/>
            <p:cNvPicPr preferRelativeResize="0"/>
            <p:nvPr/>
          </p:nvPicPr>
          <p:blipFill rotWithShape="1">
            <a:blip r:embed="rId6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" name="Google Shape;317;p24"/>
            <p:cNvSpPr txBox="1"/>
            <p:nvPr/>
          </p:nvSpPr>
          <p:spPr>
            <a:xfrm>
              <a:off x="253507" y="457211"/>
              <a:ext cx="1443900" cy="8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/>
            </a:p>
          </p:txBody>
        </p:sp>
      </p:grpSp>
      <p:grpSp>
        <p:nvGrpSpPr>
          <p:cNvPr id="318" name="Google Shape;318;p24"/>
          <p:cNvGrpSpPr/>
          <p:nvPr/>
        </p:nvGrpSpPr>
        <p:grpSpPr>
          <a:xfrm rot="-5400000">
            <a:off x="1218411" y="5519174"/>
            <a:ext cx="806956" cy="236050"/>
            <a:chOff x="0" y="1270"/>
            <a:chExt cx="1727957" cy="505460"/>
          </a:xfrm>
        </p:grpSpPr>
        <p:sp>
          <p:nvSpPr>
            <p:cNvPr id="319" name="Google Shape;319;p24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86EAE9"/>
            </a:solidFill>
            <a:ln>
              <a:noFill/>
            </a:ln>
          </p:spPr>
        </p:sp>
        <p:sp>
          <p:nvSpPr>
            <p:cNvPr id="320" name="Google Shape;320;p24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86EAE9"/>
            </a:solidFill>
            <a:ln>
              <a:noFill/>
            </a:ln>
          </p:spPr>
        </p:sp>
      </p:grpSp>
      <p:grpSp>
        <p:nvGrpSpPr>
          <p:cNvPr id="321" name="Google Shape;321;p24"/>
          <p:cNvGrpSpPr/>
          <p:nvPr/>
        </p:nvGrpSpPr>
        <p:grpSpPr>
          <a:xfrm rot="5400000">
            <a:off x="10114138" y="3876783"/>
            <a:ext cx="755981" cy="221139"/>
            <a:chOff x="0" y="1270"/>
            <a:chExt cx="1727957" cy="505460"/>
          </a:xfrm>
        </p:grpSpPr>
        <p:sp>
          <p:nvSpPr>
            <p:cNvPr id="322" name="Google Shape;322;p24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323" name="Google Shape;323;p24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</p:grpSp>
      <p:grpSp>
        <p:nvGrpSpPr>
          <p:cNvPr id="324" name="Google Shape;324;p24"/>
          <p:cNvGrpSpPr/>
          <p:nvPr/>
        </p:nvGrpSpPr>
        <p:grpSpPr>
          <a:xfrm rot="5400000">
            <a:off x="15606958" y="4027734"/>
            <a:ext cx="796588" cy="233017"/>
            <a:chOff x="0" y="1270"/>
            <a:chExt cx="1727957" cy="505460"/>
          </a:xfrm>
        </p:grpSpPr>
        <p:sp>
          <p:nvSpPr>
            <p:cNvPr id="325" name="Google Shape;325;p24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  <p:sp>
          <p:nvSpPr>
            <p:cNvPr id="326" name="Google Shape;326;p24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</p:grpSp>
      <p:grpSp>
        <p:nvGrpSpPr>
          <p:cNvPr id="327" name="Google Shape;327;p24"/>
          <p:cNvGrpSpPr/>
          <p:nvPr/>
        </p:nvGrpSpPr>
        <p:grpSpPr>
          <a:xfrm rot="-5400000">
            <a:off x="7009197" y="5537044"/>
            <a:ext cx="779309" cy="227962"/>
            <a:chOff x="0" y="1270"/>
            <a:chExt cx="1727957" cy="505460"/>
          </a:xfrm>
        </p:grpSpPr>
        <p:sp>
          <p:nvSpPr>
            <p:cNvPr id="328" name="Google Shape;328;p24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C92D5"/>
            </a:solidFill>
            <a:ln>
              <a:noFill/>
            </a:ln>
          </p:spPr>
        </p:sp>
        <p:sp>
          <p:nvSpPr>
            <p:cNvPr id="329" name="Google Shape;329;p24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2C92D5"/>
            </a:solidFill>
            <a:ln>
              <a:noFill/>
            </a:ln>
          </p:spPr>
        </p:sp>
      </p:grpSp>
      <p:grpSp>
        <p:nvGrpSpPr>
          <p:cNvPr id="330" name="Google Shape;330;p24"/>
          <p:cNvGrpSpPr/>
          <p:nvPr/>
        </p:nvGrpSpPr>
        <p:grpSpPr>
          <a:xfrm>
            <a:off x="341587" y="2560210"/>
            <a:ext cx="2753018" cy="3813005"/>
            <a:chOff x="-322888" y="-4433993"/>
            <a:chExt cx="4137388" cy="5730395"/>
          </a:xfrm>
        </p:grpSpPr>
        <p:sp>
          <p:nvSpPr>
            <p:cNvPr id="331" name="Google Shape;331;p24"/>
            <p:cNvSpPr txBox="1"/>
            <p:nvPr/>
          </p:nvSpPr>
          <p:spPr>
            <a:xfrm>
              <a:off x="-322888" y="-4433993"/>
              <a:ext cx="3814500" cy="6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  <a:endParaRPr/>
            </a:p>
          </p:txBody>
        </p:sp>
        <p:sp>
          <p:nvSpPr>
            <p:cNvPr id="332" name="Google Shape;332;p24"/>
            <p:cNvSpPr txBox="1"/>
            <p:nvPr/>
          </p:nvSpPr>
          <p:spPr>
            <a:xfrm>
              <a:off x="0" y="880002"/>
              <a:ext cx="3814500" cy="41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24"/>
          <p:cNvGrpSpPr/>
          <p:nvPr/>
        </p:nvGrpSpPr>
        <p:grpSpPr>
          <a:xfrm>
            <a:off x="8833637" y="5644337"/>
            <a:ext cx="3229792" cy="833406"/>
            <a:chOff x="-767286" y="-31406"/>
            <a:chExt cx="5180100" cy="1336658"/>
          </a:xfrm>
        </p:grpSpPr>
        <p:sp>
          <p:nvSpPr>
            <p:cNvPr id="334" name="Google Shape;334;p24"/>
            <p:cNvSpPr txBox="1"/>
            <p:nvPr/>
          </p:nvSpPr>
          <p:spPr>
            <a:xfrm>
              <a:off x="-767286" y="-31406"/>
              <a:ext cx="5180100" cy="6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91919"/>
                  </a:solidFill>
                </a:rPr>
                <a:t>IMPLÉMENTATION</a:t>
              </a:r>
              <a:endParaRPr sz="2800"/>
            </a:p>
          </p:txBody>
        </p:sp>
        <p:sp>
          <p:nvSpPr>
            <p:cNvPr id="335" name="Google Shape;335;p24"/>
            <p:cNvSpPr txBox="1"/>
            <p:nvPr/>
          </p:nvSpPr>
          <p:spPr>
            <a:xfrm>
              <a:off x="0" y="860952"/>
              <a:ext cx="3785400" cy="44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6" name="Google Shape;336;p24"/>
          <p:cNvGrpSpPr/>
          <p:nvPr/>
        </p:nvGrpSpPr>
        <p:grpSpPr>
          <a:xfrm>
            <a:off x="5934836" y="2417025"/>
            <a:ext cx="3229713" cy="850442"/>
            <a:chOff x="-574308" y="-31387"/>
            <a:chExt cx="5026008" cy="1323439"/>
          </a:xfrm>
        </p:grpSpPr>
        <p:sp>
          <p:nvSpPr>
            <p:cNvPr id="337" name="Google Shape;337;p24"/>
            <p:cNvSpPr txBox="1"/>
            <p:nvPr/>
          </p:nvSpPr>
          <p:spPr>
            <a:xfrm>
              <a:off x="-574308" y="-31387"/>
              <a:ext cx="50259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91919"/>
                  </a:solidFill>
                </a:rPr>
                <a:t>CONCEPTION</a:t>
              </a:r>
              <a:endParaRPr sz="2800"/>
            </a:p>
          </p:txBody>
        </p:sp>
        <p:sp>
          <p:nvSpPr>
            <p:cNvPr id="338" name="Google Shape;338;p24"/>
            <p:cNvSpPr txBox="1"/>
            <p:nvPr/>
          </p:nvSpPr>
          <p:spPr>
            <a:xfrm>
              <a:off x="0" y="860952"/>
              <a:ext cx="4451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9" name="Google Shape;339;p24"/>
          <p:cNvSpPr txBox="1"/>
          <p:nvPr/>
        </p:nvSpPr>
        <p:spPr>
          <a:xfrm>
            <a:off x="14828338" y="6077649"/>
            <a:ext cx="236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CONCLUSION </a:t>
            </a:r>
            <a:endParaRPr/>
          </a:p>
        </p:txBody>
      </p:sp>
      <p:pic>
        <p:nvPicPr>
          <p:cNvPr id="340" name="Google Shape;34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726343" y="7763983"/>
            <a:ext cx="2220058" cy="2220057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4"/>
          <p:cNvSpPr txBox="1"/>
          <p:nvPr/>
        </p:nvSpPr>
        <p:spPr>
          <a:xfrm>
            <a:off x="16228124" y="8366113"/>
            <a:ext cx="1216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12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342" name="Google Shape;342;p24"/>
          <p:cNvSpPr/>
          <p:nvPr/>
        </p:nvSpPr>
        <p:spPr>
          <a:xfrm>
            <a:off x="4339600" y="2293455"/>
            <a:ext cx="535200" cy="45729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3" name="Google Shape;343;p24"/>
          <p:cNvGrpSpPr/>
          <p:nvPr/>
        </p:nvGrpSpPr>
        <p:grpSpPr>
          <a:xfrm>
            <a:off x="3999005" y="2219861"/>
            <a:ext cx="1216433" cy="1080917"/>
            <a:chOff x="0" y="0"/>
            <a:chExt cx="1950975" cy="1733628"/>
          </a:xfrm>
        </p:grpSpPr>
        <p:pic>
          <p:nvPicPr>
            <p:cNvPr id="344" name="Google Shape;344;p24"/>
            <p:cNvPicPr preferRelativeResize="0"/>
            <p:nvPr/>
          </p:nvPicPr>
          <p:blipFill rotWithShape="1">
            <a:blip r:embed="rId4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24"/>
            <p:cNvSpPr txBox="1"/>
            <p:nvPr/>
          </p:nvSpPr>
          <p:spPr>
            <a:xfrm>
              <a:off x="253507" y="457211"/>
              <a:ext cx="1443900" cy="88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US" sz="3600">
                  <a:solidFill>
                    <a:srgbClr val="FFFFFF"/>
                  </a:solidFill>
                </a:rPr>
                <a:t>2</a:t>
              </a:r>
              <a:endParaRPr/>
            </a:p>
          </p:txBody>
        </p:sp>
      </p:grpSp>
      <p:grpSp>
        <p:nvGrpSpPr>
          <p:cNvPr id="346" name="Google Shape;346;p24"/>
          <p:cNvGrpSpPr/>
          <p:nvPr/>
        </p:nvGrpSpPr>
        <p:grpSpPr>
          <a:xfrm rot="5400000">
            <a:off x="4229213" y="3635908"/>
            <a:ext cx="755981" cy="221139"/>
            <a:chOff x="0" y="1270"/>
            <a:chExt cx="1727957" cy="505460"/>
          </a:xfrm>
        </p:grpSpPr>
        <p:sp>
          <p:nvSpPr>
            <p:cNvPr id="347" name="Google Shape;347;p24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348" name="Google Shape;348;p24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</p:grpSp>
      <p:grpSp>
        <p:nvGrpSpPr>
          <p:cNvPr id="349" name="Google Shape;349;p24"/>
          <p:cNvGrpSpPr/>
          <p:nvPr/>
        </p:nvGrpSpPr>
        <p:grpSpPr>
          <a:xfrm>
            <a:off x="3427115" y="5403468"/>
            <a:ext cx="2360197" cy="833401"/>
            <a:chOff x="0" y="-31397"/>
            <a:chExt cx="3785400" cy="1336649"/>
          </a:xfrm>
        </p:grpSpPr>
        <p:sp>
          <p:nvSpPr>
            <p:cNvPr id="350" name="Google Shape;350;p24"/>
            <p:cNvSpPr txBox="1"/>
            <p:nvPr/>
          </p:nvSpPr>
          <p:spPr>
            <a:xfrm>
              <a:off x="0" y="-31397"/>
              <a:ext cx="3785400" cy="6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91919"/>
                  </a:solidFill>
                </a:rPr>
                <a:t>État de l'Art</a:t>
              </a:r>
              <a:endParaRPr sz="2800"/>
            </a:p>
          </p:txBody>
        </p:sp>
        <p:sp>
          <p:nvSpPr>
            <p:cNvPr id="351" name="Google Shape;351;p24"/>
            <p:cNvSpPr txBox="1"/>
            <p:nvPr/>
          </p:nvSpPr>
          <p:spPr>
            <a:xfrm>
              <a:off x="0" y="860952"/>
              <a:ext cx="3785400" cy="44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2" name="Google Shape;352;p24"/>
          <p:cNvSpPr/>
          <p:nvPr/>
        </p:nvSpPr>
        <p:spPr>
          <a:xfrm>
            <a:off x="6973561" y="715713"/>
            <a:ext cx="850500" cy="850500"/>
          </a:xfrm>
          <a:prstGeom prst="donut">
            <a:avLst>
              <a:gd fmla="val 25000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4"/>
          <p:cNvSpPr/>
          <p:nvPr/>
        </p:nvSpPr>
        <p:spPr>
          <a:xfrm>
            <a:off x="12893742" y="2668273"/>
            <a:ext cx="559200" cy="46305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4" name="Google Shape;354;p24"/>
          <p:cNvGrpSpPr/>
          <p:nvPr/>
        </p:nvGrpSpPr>
        <p:grpSpPr>
          <a:xfrm>
            <a:off x="12537843" y="6246314"/>
            <a:ext cx="1271060" cy="1129458"/>
            <a:chOff x="0" y="0"/>
            <a:chExt cx="1950975" cy="1733628"/>
          </a:xfrm>
        </p:grpSpPr>
        <p:pic>
          <p:nvPicPr>
            <p:cNvPr id="355" name="Google Shape;355;p24"/>
            <p:cNvPicPr preferRelativeResize="0"/>
            <p:nvPr/>
          </p:nvPicPr>
          <p:blipFill rotWithShape="1">
            <a:blip r:embed="rId8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6" name="Google Shape;356;p24"/>
            <p:cNvSpPr txBox="1"/>
            <p:nvPr/>
          </p:nvSpPr>
          <p:spPr>
            <a:xfrm>
              <a:off x="253507" y="457211"/>
              <a:ext cx="1443900" cy="8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FFFF"/>
                  </a:solidFill>
                </a:rPr>
                <a:t>05</a:t>
              </a:r>
              <a:endParaRPr/>
            </a:p>
          </p:txBody>
        </p:sp>
      </p:grpSp>
      <p:grpSp>
        <p:nvGrpSpPr>
          <p:cNvPr id="357" name="Google Shape;357;p24"/>
          <p:cNvGrpSpPr/>
          <p:nvPr/>
        </p:nvGrpSpPr>
        <p:grpSpPr>
          <a:xfrm rot="-5400000">
            <a:off x="12778354" y="5664954"/>
            <a:ext cx="790022" cy="231096"/>
            <a:chOff x="0" y="1270"/>
            <a:chExt cx="1727957" cy="505460"/>
          </a:xfrm>
        </p:grpSpPr>
        <p:sp>
          <p:nvSpPr>
            <p:cNvPr id="358" name="Google Shape;358;p24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EDAD8"/>
            </a:solidFill>
            <a:ln>
              <a:noFill/>
            </a:ln>
          </p:spPr>
        </p:sp>
        <p:sp>
          <p:nvSpPr>
            <p:cNvPr id="359" name="Google Shape;359;p24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3EDAD8"/>
            </a:solidFill>
            <a:ln>
              <a:noFill/>
            </a:ln>
          </p:spPr>
        </p:sp>
      </p:grpSp>
      <p:grpSp>
        <p:nvGrpSpPr>
          <p:cNvPr id="360" name="Google Shape;360;p24"/>
          <p:cNvGrpSpPr/>
          <p:nvPr/>
        </p:nvGrpSpPr>
        <p:grpSpPr>
          <a:xfrm>
            <a:off x="12063338" y="2467629"/>
            <a:ext cx="2220117" cy="1222572"/>
            <a:chOff x="0" y="-31397"/>
            <a:chExt cx="3407700" cy="1876549"/>
          </a:xfrm>
        </p:grpSpPr>
        <p:sp>
          <p:nvSpPr>
            <p:cNvPr id="361" name="Google Shape;361;p24"/>
            <p:cNvSpPr txBox="1"/>
            <p:nvPr/>
          </p:nvSpPr>
          <p:spPr>
            <a:xfrm>
              <a:off x="0" y="-31397"/>
              <a:ext cx="3407700" cy="66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91919"/>
                  </a:solidFill>
                </a:rPr>
                <a:t>Démo et Tests</a:t>
              </a:r>
              <a:endParaRPr sz="2800"/>
            </a:p>
          </p:txBody>
        </p:sp>
        <p:sp>
          <p:nvSpPr>
            <p:cNvPr id="362" name="Google Shape;362;p24"/>
            <p:cNvSpPr txBox="1"/>
            <p:nvPr/>
          </p:nvSpPr>
          <p:spPr>
            <a:xfrm>
              <a:off x="0" y="1419752"/>
              <a:ext cx="3407700" cy="42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25"/>
          <p:cNvGrpSpPr/>
          <p:nvPr/>
        </p:nvGrpSpPr>
        <p:grpSpPr>
          <a:xfrm>
            <a:off x="1825600" y="606105"/>
            <a:ext cx="14477964" cy="1883259"/>
            <a:chOff x="-211652" y="-3749951"/>
            <a:chExt cx="19303952" cy="20425800"/>
          </a:xfrm>
        </p:grpSpPr>
        <p:sp>
          <p:nvSpPr>
            <p:cNvPr id="368" name="Google Shape;368;p25"/>
            <p:cNvSpPr txBox="1"/>
            <p:nvPr/>
          </p:nvSpPr>
          <p:spPr>
            <a:xfrm>
              <a:off x="0" y="-104775"/>
              <a:ext cx="19092300" cy="30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9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25"/>
            <p:cNvSpPr txBox="1"/>
            <p:nvPr/>
          </p:nvSpPr>
          <p:spPr>
            <a:xfrm>
              <a:off x="-211652" y="-3749951"/>
              <a:ext cx="19092300" cy="2042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73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0"/>
                <a:t>Conception et Architecture</a:t>
              </a:r>
              <a:endParaRPr b="1" sz="6000"/>
            </a:p>
            <a:p>
              <a:pPr indent="0" lvl="0" marL="0" marR="0" rtl="0" algn="l">
                <a:lnSpc>
                  <a:spcPct val="34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25"/>
            <p:cNvSpPr txBox="1"/>
            <p:nvPr/>
          </p:nvSpPr>
          <p:spPr>
            <a:xfrm>
              <a:off x="0" y="3392806"/>
              <a:ext cx="19092300" cy="30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9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1" name="Google Shape;37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13389" y="8343900"/>
            <a:ext cx="2206302" cy="2206302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5"/>
          <p:cNvSpPr txBox="1"/>
          <p:nvPr/>
        </p:nvSpPr>
        <p:spPr>
          <a:xfrm>
            <a:off x="16838902" y="8939150"/>
            <a:ext cx="1155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13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373" name="Google Shape;373;p25"/>
          <p:cNvSpPr txBox="1"/>
          <p:nvPr/>
        </p:nvSpPr>
        <p:spPr>
          <a:xfrm>
            <a:off x="587400" y="2061050"/>
            <a:ext cx="171132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457200" marR="0" rtl="0" algn="l">
              <a:lnSpc>
                <a:spcPct val="169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Notre système biomédical utilise un routeur intelligent pour interroger diverses sources et générer des réponses précises et contextualisées via un LLM expert.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p25" title="arch_glo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8038" y="4300538"/>
            <a:ext cx="11591925" cy="463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p26"/>
          <p:cNvGrpSpPr/>
          <p:nvPr/>
        </p:nvGrpSpPr>
        <p:grpSpPr>
          <a:xfrm>
            <a:off x="349645" y="-6"/>
            <a:ext cx="17938350" cy="1866128"/>
            <a:chOff x="0" y="-104775"/>
            <a:chExt cx="23917800" cy="2488170"/>
          </a:xfrm>
        </p:grpSpPr>
        <p:sp>
          <p:nvSpPr>
            <p:cNvPr id="380" name="Google Shape;380;p26"/>
            <p:cNvSpPr txBox="1"/>
            <p:nvPr/>
          </p:nvSpPr>
          <p:spPr>
            <a:xfrm>
              <a:off x="0" y="-104775"/>
              <a:ext cx="2391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9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26"/>
            <p:cNvSpPr txBox="1"/>
            <p:nvPr/>
          </p:nvSpPr>
          <p:spPr>
            <a:xfrm>
              <a:off x="0" y="2014095"/>
              <a:ext cx="2391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9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2" name="Google Shape;382;p26" title="D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688" y="347850"/>
            <a:ext cx="16934625" cy="9939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660" y="8012916"/>
            <a:ext cx="2100163" cy="2100163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 txBox="1"/>
          <p:nvPr/>
        </p:nvSpPr>
        <p:spPr>
          <a:xfrm>
            <a:off x="848038" y="8555100"/>
            <a:ext cx="1103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14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7"/>
          <p:cNvSpPr/>
          <p:nvPr/>
        </p:nvSpPr>
        <p:spPr>
          <a:xfrm>
            <a:off x="1404622" y="2206272"/>
            <a:ext cx="571200" cy="48807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0" name="Google Shape;390;p27"/>
          <p:cNvGrpSpPr/>
          <p:nvPr/>
        </p:nvGrpSpPr>
        <p:grpSpPr>
          <a:xfrm>
            <a:off x="961578" y="6090750"/>
            <a:ext cx="1298179" cy="1153556"/>
            <a:chOff x="0" y="0"/>
            <a:chExt cx="1950975" cy="1733628"/>
          </a:xfrm>
        </p:grpSpPr>
        <p:pic>
          <p:nvPicPr>
            <p:cNvPr id="391" name="Google Shape;391;p27"/>
            <p:cNvPicPr preferRelativeResize="0"/>
            <p:nvPr/>
          </p:nvPicPr>
          <p:blipFill rotWithShape="1">
            <a:blip r:embed="rId3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27"/>
            <p:cNvSpPr txBox="1"/>
            <p:nvPr/>
          </p:nvSpPr>
          <p:spPr>
            <a:xfrm>
              <a:off x="253507" y="457211"/>
              <a:ext cx="1443900" cy="8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</p:grpSp>
      <p:sp>
        <p:nvSpPr>
          <p:cNvPr id="393" name="Google Shape;393;p27"/>
          <p:cNvSpPr/>
          <p:nvPr/>
        </p:nvSpPr>
        <p:spPr>
          <a:xfrm>
            <a:off x="10224525" y="2534330"/>
            <a:ext cx="535200" cy="45729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4" name="Google Shape;394;p27"/>
          <p:cNvGrpSpPr/>
          <p:nvPr/>
        </p:nvGrpSpPr>
        <p:grpSpPr>
          <a:xfrm>
            <a:off x="9883930" y="2460736"/>
            <a:ext cx="1216433" cy="1080917"/>
            <a:chOff x="0" y="0"/>
            <a:chExt cx="1950975" cy="1733628"/>
          </a:xfrm>
        </p:grpSpPr>
        <p:pic>
          <p:nvPicPr>
            <p:cNvPr id="395" name="Google Shape;395;p27"/>
            <p:cNvPicPr preferRelativeResize="0"/>
            <p:nvPr/>
          </p:nvPicPr>
          <p:blipFill rotWithShape="1">
            <a:blip r:embed="rId4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6" name="Google Shape;396;p27"/>
            <p:cNvSpPr txBox="1"/>
            <p:nvPr/>
          </p:nvSpPr>
          <p:spPr>
            <a:xfrm>
              <a:off x="253507" y="457211"/>
              <a:ext cx="1443900" cy="88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/>
            </a:p>
          </p:txBody>
        </p:sp>
      </p:grpSp>
      <p:sp>
        <p:nvSpPr>
          <p:cNvPr id="397" name="Google Shape;397;p27"/>
          <p:cNvSpPr/>
          <p:nvPr/>
        </p:nvSpPr>
        <p:spPr>
          <a:xfrm>
            <a:off x="15723311" y="2613278"/>
            <a:ext cx="564000" cy="48180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8" name="Google Shape;398;p27"/>
          <p:cNvGrpSpPr/>
          <p:nvPr/>
        </p:nvGrpSpPr>
        <p:grpSpPr>
          <a:xfrm>
            <a:off x="15364454" y="2535738"/>
            <a:ext cx="1281596" cy="1138820"/>
            <a:chOff x="0" y="0"/>
            <a:chExt cx="1950975" cy="1733628"/>
          </a:xfrm>
        </p:grpSpPr>
        <p:pic>
          <p:nvPicPr>
            <p:cNvPr id="399" name="Google Shape;399;p27"/>
            <p:cNvPicPr preferRelativeResize="0"/>
            <p:nvPr/>
          </p:nvPicPr>
          <p:blipFill rotWithShape="1">
            <a:blip r:embed="rId5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0" name="Google Shape;400;p27"/>
            <p:cNvSpPr txBox="1"/>
            <p:nvPr/>
          </p:nvSpPr>
          <p:spPr>
            <a:xfrm>
              <a:off x="253507" y="457211"/>
              <a:ext cx="1443900" cy="8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FFFF"/>
                  </a:solidFill>
                </a:rPr>
                <a:t>06</a:t>
              </a:r>
              <a:endParaRPr/>
            </a:p>
          </p:txBody>
        </p:sp>
      </p:grpSp>
      <p:sp>
        <p:nvSpPr>
          <p:cNvPr id="401" name="Google Shape;401;p27"/>
          <p:cNvSpPr/>
          <p:nvPr/>
        </p:nvSpPr>
        <p:spPr>
          <a:xfrm>
            <a:off x="7123021" y="2435380"/>
            <a:ext cx="551700" cy="47133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2" name="Google Shape;402;p27"/>
          <p:cNvGrpSpPr/>
          <p:nvPr/>
        </p:nvGrpSpPr>
        <p:grpSpPr>
          <a:xfrm>
            <a:off x="6771952" y="6110519"/>
            <a:ext cx="1253697" cy="1114029"/>
            <a:chOff x="0" y="0"/>
            <a:chExt cx="1950975" cy="1733628"/>
          </a:xfrm>
        </p:grpSpPr>
        <p:pic>
          <p:nvPicPr>
            <p:cNvPr id="403" name="Google Shape;403;p27"/>
            <p:cNvPicPr preferRelativeResize="0"/>
            <p:nvPr/>
          </p:nvPicPr>
          <p:blipFill rotWithShape="1">
            <a:blip r:embed="rId6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27"/>
            <p:cNvSpPr txBox="1"/>
            <p:nvPr/>
          </p:nvSpPr>
          <p:spPr>
            <a:xfrm>
              <a:off x="253507" y="457211"/>
              <a:ext cx="1443900" cy="8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/>
            </a:p>
          </p:txBody>
        </p:sp>
      </p:grpSp>
      <p:grpSp>
        <p:nvGrpSpPr>
          <p:cNvPr id="405" name="Google Shape;405;p27"/>
          <p:cNvGrpSpPr/>
          <p:nvPr/>
        </p:nvGrpSpPr>
        <p:grpSpPr>
          <a:xfrm rot="-5400000">
            <a:off x="1218411" y="5519174"/>
            <a:ext cx="806956" cy="236050"/>
            <a:chOff x="0" y="1270"/>
            <a:chExt cx="1727957" cy="505460"/>
          </a:xfrm>
        </p:grpSpPr>
        <p:sp>
          <p:nvSpPr>
            <p:cNvPr id="406" name="Google Shape;406;p27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86EAE9"/>
            </a:solidFill>
            <a:ln>
              <a:noFill/>
            </a:ln>
          </p:spPr>
        </p:sp>
        <p:sp>
          <p:nvSpPr>
            <p:cNvPr id="407" name="Google Shape;407;p27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86EAE9"/>
            </a:solidFill>
            <a:ln>
              <a:noFill/>
            </a:ln>
          </p:spPr>
        </p:sp>
      </p:grpSp>
      <p:grpSp>
        <p:nvGrpSpPr>
          <p:cNvPr id="408" name="Google Shape;408;p27"/>
          <p:cNvGrpSpPr/>
          <p:nvPr/>
        </p:nvGrpSpPr>
        <p:grpSpPr>
          <a:xfrm rot="5400000">
            <a:off x="10114138" y="3876783"/>
            <a:ext cx="755981" cy="221139"/>
            <a:chOff x="0" y="1270"/>
            <a:chExt cx="1727957" cy="505460"/>
          </a:xfrm>
        </p:grpSpPr>
        <p:sp>
          <p:nvSpPr>
            <p:cNvPr id="409" name="Google Shape;409;p27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410" name="Google Shape;410;p27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</p:grpSp>
      <p:grpSp>
        <p:nvGrpSpPr>
          <p:cNvPr id="411" name="Google Shape;411;p27"/>
          <p:cNvGrpSpPr/>
          <p:nvPr/>
        </p:nvGrpSpPr>
        <p:grpSpPr>
          <a:xfrm rot="5400000">
            <a:off x="15606958" y="4027734"/>
            <a:ext cx="796588" cy="233017"/>
            <a:chOff x="0" y="1270"/>
            <a:chExt cx="1727957" cy="505460"/>
          </a:xfrm>
        </p:grpSpPr>
        <p:sp>
          <p:nvSpPr>
            <p:cNvPr id="412" name="Google Shape;412;p27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  <p:sp>
          <p:nvSpPr>
            <p:cNvPr id="413" name="Google Shape;413;p27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</p:grpSp>
      <p:grpSp>
        <p:nvGrpSpPr>
          <p:cNvPr id="414" name="Google Shape;414;p27"/>
          <p:cNvGrpSpPr/>
          <p:nvPr/>
        </p:nvGrpSpPr>
        <p:grpSpPr>
          <a:xfrm rot="-5400000">
            <a:off x="7009197" y="5537044"/>
            <a:ext cx="779309" cy="227962"/>
            <a:chOff x="0" y="1270"/>
            <a:chExt cx="1727957" cy="505460"/>
          </a:xfrm>
        </p:grpSpPr>
        <p:sp>
          <p:nvSpPr>
            <p:cNvPr id="415" name="Google Shape;415;p27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C92D5"/>
            </a:solidFill>
            <a:ln>
              <a:noFill/>
            </a:ln>
          </p:spPr>
        </p:sp>
        <p:sp>
          <p:nvSpPr>
            <p:cNvPr id="416" name="Google Shape;416;p27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2C92D5"/>
            </a:solidFill>
            <a:ln>
              <a:noFill/>
            </a:ln>
          </p:spPr>
        </p:sp>
      </p:grpSp>
      <p:grpSp>
        <p:nvGrpSpPr>
          <p:cNvPr id="417" name="Google Shape;417;p27"/>
          <p:cNvGrpSpPr/>
          <p:nvPr/>
        </p:nvGrpSpPr>
        <p:grpSpPr>
          <a:xfrm>
            <a:off x="341587" y="2560210"/>
            <a:ext cx="2753018" cy="3813005"/>
            <a:chOff x="-322888" y="-4433993"/>
            <a:chExt cx="4137388" cy="5730395"/>
          </a:xfrm>
        </p:grpSpPr>
        <p:sp>
          <p:nvSpPr>
            <p:cNvPr id="418" name="Google Shape;418;p27"/>
            <p:cNvSpPr txBox="1"/>
            <p:nvPr/>
          </p:nvSpPr>
          <p:spPr>
            <a:xfrm>
              <a:off x="-322888" y="-4433993"/>
              <a:ext cx="3814500" cy="6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  <a:endParaRPr/>
            </a:p>
          </p:txBody>
        </p:sp>
        <p:sp>
          <p:nvSpPr>
            <p:cNvPr id="419" name="Google Shape;419;p27"/>
            <p:cNvSpPr txBox="1"/>
            <p:nvPr/>
          </p:nvSpPr>
          <p:spPr>
            <a:xfrm>
              <a:off x="0" y="880002"/>
              <a:ext cx="3814500" cy="41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0" name="Google Shape;420;p27"/>
          <p:cNvGrpSpPr/>
          <p:nvPr/>
        </p:nvGrpSpPr>
        <p:grpSpPr>
          <a:xfrm>
            <a:off x="8833637" y="5644337"/>
            <a:ext cx="3229792" cy="833406"/>
            <a:chOff x="-767286" y="-31406"/>
            <a:chExt cx="5180100" cy="1336658"/>
          </a:xfrm>
        </p:grpSpPr>
        <p:sp>
          <p:nvSpPr>
            <p:cNvPr id="421" name="Google Shape;421;p27"/>
            <p:cNvSpPr txBox="1"/>
            <p:nvPr/>
          </p:nvSpPr>
          <p:spPr>
            <a:xfrm>
              <a:off x="-767286" y="-31406"/>
              <a:ext cx="5180100" cy="6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91919"/>
                  </a:solidFill>
                </a:rPr>
                <a:t>IMPLÉMENTATION</a:t>
              </a:r>
              <a:endParaRPr sz="2800"/>
            </a:p>
          </p:txBody>
        </p:sp>
        <p:sp>
          <p:nvSpPr>
            <p:cNvPr id="422" name="Google Shape;422;p27"/>
            <p:cNvSpPr txBox="1"/>
            <p:nvPr/>
          </p:nvSpPr>
          <p:spPr>
            <a:xfrm>
              <a:off x="0" y="860952"/>
              <a:ext cx="3785400" cy="44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3" name="Google Shape;423;p27"/>
          <p:cNvGrpSpPr/>
          <p:nvPr/>
        </p:nvGrpSpPr>
        <p:grpSpPr>
          <a:xfrm>
            <a:off x="5934836" y="2417025"/>
            <a:ext cx="3229713" cy="850442"/>
            <a:chOff x="-574308" y="-31387"/>
            <a:chExt cx="5026008" cy="1323439"/>
          </a:xfrm>
        </p:grpSpPr>
        <p:sp>
          <p:nvSpPr>
            <p:cNvPr id="424" name="Google Shape;424;p27"/>
            <p:cNvSpPr txBox="1"/>
            <p:nvPr/>
          </p:nvSpPr>
          <p:spPr>
            <a:xfrm>
              <a:off x="-574308" y="-31387"/>
              <a:ext cx="50259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91919"/>
                  </a:solidFill>
                </a:rPr>
                <a:t>CONCEPTION</a:t>
              </a:r>
              <a:endParaRPr sz="2800"/>
            </a:p>
          </p:txBody>
        </p:sp>
        <p:sp>
          <p:nvSpPr>
            <p:cNvPr id="425" name="Google Shape;425;p27"/>
            <p:cNvSpPr txBox="1"/>
            <p:nvPr/>
          </p:nvSpPr>
          <p:spPr>
            <a:xfrm>
              <a:off x="0" y="860952"/>
              <a:ext cx="4451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6" name="Google Shape;426;p27"/>
          <p:cNvSpPr txBox="1"/>
          <p:nvPr/>
        </p:nvSpPr>
        <p:spPr>
          <a:xfrm>
            <a:off x="14828338" y="6077649"/>
            <a:ext cx="236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CONCLUSION </a:t>
            </a:r>
            <a:endParaRPr/>
          </a:p>
        </p:txBody>
      </p:sp>
      <p:sp>
        <p:nvSpPr>
          <p:cNvPr id="427" name="Google Shape;427;p27"/>
          <p:cNvSpPr/>
          <p:nvPr/>
        </p:nvSpPr>
        <p:spPr>
          <a:xfrm>
            <a:off x="4339600" y="2293455"/>
            <a:ext cx="535200" cy="45729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8" name="Google Shape;428;p27"/>
          <p:cNvGrpSpPr/>
          <p:nvPr/>
        </p:nvGrpSpPr>
        <p:grpSpPr>
          <a:xfrm>
            <a:off x="3999005" y="2219861"/>
            <a:ext cx="1216433" cy="1080917"/>
            <a:chOff x="0" y="0"/>
            <a:chExt cx="1950975" cy="1733628"/>
          </a:xfrm>
        </p:grpSpPr>
        <p:pic>
          <p:nvPicPr>
            <p:cNvPr id="429" name="Google Shape;429;p27"/>
            <p:cNvPicPr preferRelativeResize="0"/>
            <p:nvPr/>
          </p:nvPicPr>
          <p:blipFill rotWithShape="1">
            <a:blip r:embed="rId4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27"/>
            <p:cNvSpPr txBox="1"/>
            <p:nvPr/>
          </p:nvSpPr>
          <p:spPr>
            <a:xfrm>
              <a:off x="253507" y="457211"/>
              <a:ext cx="1443900" cy="88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US" sz="3600">
                  <a:solidFill>
                    <a:srgbClr val="FFFFFF"/>
                  </a:solidFill>
                </a:rPr>
                <a:t>2</a:t>
              </a:r>
              <a:endParaRPr/>
            </a:p>
          </p:txBody>
        </p:sp>
      </p:grpSp>
      <p:grpSp>
        <p:nvGrpSpPr>
          <p:cNvPr id="431" name="Google Shape;431;p27"/>
          <p:cNvGrpSpPr/>
          <p:nvPr/>
        </p:nvGrpSpPr>
        <p:grpSpPr>
          <a:xfrm rot="5400000">
            <a:off x="4229213" y="3635908"/>
            <a:ext cx="755981" cy="221139"/>
            <a:chOff x="0" y="1270"/>
            <a:chExt cx="1727957" cy="505460"/>
          </a:xfrm>
        </p:grpSpPr>
        <p:sp>
          <p:nvSpPr>
            <p:cNvPr id="432" name="Google Shape;432;p27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433" name="Google Shape;433;p27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</p:grpSp>
      <p:grpSp>
        <p:nvGrpSpPr>
          <p:cNvPr id="434" name="Google Shape;434;p27"/>
          <p:cNvGrpSpPr/>
          <p:nvPr/>
        </p:nvGrpSpPr>
        <p:grpSpPr>
          <a:xfrm>
            <a:off x="3427115" y="5403468"/>
            <a:ext cx="2360197" cy="833401"/>
            <a:chOff x="0" y="-31397"/>
            <a:chExt cx="3785400" cy="1336649"/>
          </a:xfrm>
        </p:grpSpPr>
        <p:sp>
          <p:nvSpPr>
            <p:cNvPr id="435" name="Google Shape;435;p27"/>
            <p:cNvSpPr txBox="1"/>
            <p:nvPr/>
          </p:nvSpPr>
          <p:spPr>
            <a:xfrm>
              <a:off x="0" y="-31397"/>
              <a:ext cx="3785400" cy="6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91919"/>
                  </a:solidFill>
                </a:rPr>
                <a:t>État de l'Art</a:t>
              </a:r>
              <a:endParaRPr sz="2800"/>
            </a:p>
          </p:txBody>
        </p:sp>
        <p:sp>
          <p:nvSpPr>
            <p:cNvPr id="436" name="Google Shape;436;p27"/>
            <p:cNvSpPr txBox="1"/>
            <p:nvPr/>
          </p:nvSpPr>
          <p:spPr>
            <a:xfrm>
              <a:off x="0" y="860952"/>
              <a:ext cx="3785400" cy="44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7" name="Google Shape;437;p27"/>
          <p:cNvSpPr/>
          <p:nvPr/>
        </p:nvSpPr>
        <p:spPr>
          <a:xfrm>
            <a:off x="10023286" y="683963"/>
            <a:ext cx="850500" cy="850500"/>
          </a:xfrm>
          <a:prstGeom prst="donut">
            <a:avLst>
              <a:gd fmla="val 25000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7"/>
          <p:cNvSpPr/>
          <p:nvPr/>
        </p:nvSpPr>
        <p:spPr>
          <a:xfrm>
            <a:off x="12893742" y="2668273"/>
            <a:ext cx="559200" cy="46305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9" name="Google Shape;439;p27"/>
          <p:cNvGrpSpPr/>
          <p:nvPr/>
        </p:nvGrpSpPr>
        <p:grpSpPr>
          <a:xfrm>
            <a:off x="12537843" y="6246314"/>
            <a:ext cx="1271060" cy="1129458"/>
            <a:chOff x="0" y="0"/>
            <a:chExt cx="1950975" cy="1733628"/>
          </a:xfrm>
        </p:grpSpPr>
        <p:pic>
          <p:nvPicPr>
            <p:cNvPr id="440" name="Google Shape;440;p27"/>
            <p:cNvPicPr preferRelativeResize="0"/>
            <p:nvPr/>
          </p:nvPicPr>
          <p:blipFill rotWithShape="1">
            <a:blip r:embed="rId7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1" name="Google Shape;441;p27"/>
            <p:cNvSpPr txBox="1"/>
            <p:nvPr/>
          </p:nvSpPr>
          <p:spPr>
            <a:xfrm>
              <a:off x="253507" y="457211"/>
              <a:ext cx="1443900" cy="8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FFFF"/>
                  </a:solidFill>
                </a:rPr>
                <a:t>05</a:t>
              </a:r>
              <a:endParaRPr/>
            </a:p>
          </p:txBody>
        </p:sp>
      </p:grpSp>
      <p:grpSp>
        <p:nvGrpSpPr>
          <p:cNvPr id="442" name="Google Shape;442;p27"/>
          <p:cNvGrpSpPr/>
          <p:nvPr/>
        </p:nvGrpSpPr>
        <p:grpSpPr>
          <a:xfrm rot="-5400000">
            <a:off x="12778354" y="5664954"/>
            <a:ext cx="790022" cy="231096"/>
            <a:chOff x="0" y="1270"/>
            <a:chExt cx="1727957" cy="505460"/>
          </a:xfrm>
        </p:grpSpPr>
        <p:sp>
          <p:nvSpPr>
            <p:cNvPr id="443" name="Google Shape;443;p27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EDAD8"/>
            </a:solidFill>
            <a:ln>
              <a:noFill/>
            </a:ln>
          </p:spPr>
        </p:sp>
        <p:sp>
          <p:nvSpPr>
            <p:cNvPr id="444" name="Google Shape;444;p27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3EDAD8"/>
            </a:solidFill>
            <a:ln>
              <a:noFill/>
            </a:ln>
          </p:spPr>
        </p:sp>
      </p:grpSp>
      <p:grpSp>
        <p:nvGrpSpPr>
          <p:cNvPr id="445" name="Google Shape;445;p27"/>
          <p:cNvGrpSpPr/>
          <p:nvPr/>
        </p:nvGrpSpPr>
        <p:grpSpPr>
          <a:xfrm>
            <a:off x="12063338" y="2467629"/>
            <a:ext cx="2220117" cy="1222572"/>
            <a:chOff x="0" y="-31397"/>
            <a:chExt cx="3407700" cy="1876549"/>
          </a:xfrm>
        </p:grpSpPr>
        <p:sp>
          <p:nvSpPr>
            <p:cNvPr id="446" name="Google Shape;446;p27"/>
            <p:cNvSpPr txBox="1"/>
            <p:nvPr/>
          </p:nvSpPr>
          <p:spPr>
            <a:xfrm>
              <a:off x="0" y="-31397"/>
              <a:ext cx="3407700" cy="66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91919"/>
                  </a:solidFill>
                </a:rPr>
                <a:t>Démo et Tests</a:t>
              </a:r>
              <a:endParaRPr sz="2800"/>
            </a:p>
          </p:txBody>
        </p:sp>
        <p:sp>
          <p:nvSpPr>
            <p:cNvPr id="447" name="Google Shape;447;p27"/>
            <p:cNvSpPr txBox="1"/>
            <p:nvPr/>
          </p:nvSpPr>
          <p:spPr>
            <a:xfrm>
              <a:off x="0" y="1419752"/>
              <a:ext cx="3407700" cy="42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48" name="Google Shape;448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726343" y="7763983"/>
            <a:ext cx="2220058" cy="2220057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27"/>
          <p:cNvSpPr txBox="1"/>
          <p:nvPr/>
        </p:nvSpPr>
        <p:spPr>
          <a:xfrm>
            <a:off x="16287298" y="8366113"/>
            <a:ext cx="1747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1</a:t>
            </a: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5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28"/>
          <p:cNvPicPr preferRelativeResize="0"/>
          <p:nvPr/>
        </p:nvPicPr>
        <p:blipFill rotWithShape="1">
          <a:blip r:embed="rId3">
            <a:alphaModFix/>
          </a:blip>
          <a:srcRect b="1039" l="806" r="2068" t="0"/>
          <a:stretch/>
        </p:blipFill>
        <p:spPr>
          <a:xfrm>
            <a:off x="5645129" y="2073572"/>
            <a:ext cx="6786888" cy="6374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8934" y="4390859"/>
            <a:ext cx="1961072" cy="1961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5728" y="3775474"/>
            <a:ext cx="1961072" cy="1961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1945" y="6475024"/>
            <a:ext cx="1961072" cy="1961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1947" y="7046854"/>
            <a:ext cx="1961072" cy="1961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84097" y="4442095"/>
            <a:ext cx="1051631" cy="541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48463" y="4146022"/>
            <a:ext cx="2109372" cy="210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2634981">
            <a:off x="9843925" y="6175607"/>
            <a:ext cx="991331" cy="510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571762">
            <a:off x="6799571" y="5014858"/>
            <a:ext cx="1130819" cy="582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7216051">
            <a:off x="7497453" y="6223289"/>
            <a:ext cx="1052490" cy="542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3364519">
            <a:off x="9231348" y="3532626"/>
            <a:ext cx="1051631" cy="541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7826738">
            <a:off x="7563858" y="3595471"/>
            <a:ext cx="1051631" cy="54159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28"/>
          <p:cNvSpPr txBox="1"/>
          <p:nvPr/>
        </p:nvSpPr>
        <p:spPr>
          <a:xfrm>
            <a:off x="2231594" y="4627100"/>
            <a:ext cx="26421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7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91919"/>
                </a:solidFill>
              </a:rPr>
              <a:t>FastApi</a:t>
            </a:r>
            <a:endParaRPr sz="300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8"/>
          <p:cNvSpPr txBox="1"/>
          <p:nvPr/>
        </p:nvSpPr>
        <p:spPr>
          <a:xfrm>
            <a:off x="12389561" y="7685221"/>
            <a:ext cx="2642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98">
                <a:solidFill>
                  <a:srgbClr val="191919"/>
                </a:solidFill>
              </a:rPr>
              <a:t>Streamlit</a:t>
            </a:r>
            <a:endParaRPr sz="3098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8"/>
          <p:cNvSpPr txBox="1"/>
          <p:nvPr/>
        </p:nvSpPr>
        <p:spPr>
          <a:xfrm>
            <a:off x="13414299" y="3875693"/>
            <a:ext cx="264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91919"/>
                </a:solidFill>
              </a:rPr>
              <a:t>Duckduckgo</a:t>
            </a:r>
            <a:endParaRPr sz="300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8"/>
          <p:cNvSpPr txBox="1"/>
          <p:nvPr/>
        </p:nvSpPr>
        <p:spPr>
          <a:xfrm>
            <a:off x="3831079" y="8007771"/>
            <a:ext cx="264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LangChain</a:t>
            </a:r>
            <a:endParaRPr sz="300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8"/>
          <p:cNvSpPr txBox="1"/>
          <p:nvPr/>
        </p:nvSpPr>
        <p:spPr>
          <a:xfrm>
            <a:off x="7759240" y="4809494"/>
            <a:ext cx="24078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66">
                <a:solidFill>
                  <a:srgbClr val="191919"/>
                </a:solidFill>
                <a:latin typeface="Bree Serif"/>
                <a:ea typeface="Bree Serif"/>
                <a:cs typeface="Bree Serif"/>
                <a:sym typeface="Bree Serif"/>
              </a:rPr>
              <a:t>Technologies</a:t>
            </a:r>
            <a:endParaRPr/>
          </a:p>
        </p:txBody>
      </p:sp>
      <p:sp>
        <p:nvSpPr>
          <p:cNvPr id="471" name="Google Shape;471;p28"/>
          <p:cNvSpPr txBox="1"/>
          <p:nvPr/>
        </p:nvSpPr>
        <p:spPr>
          <a:xfrm>
            <a:off x="6043941" y="1460028"/>
            <a:ext cx="264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300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2" name="Google Shape;47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9450" y="1279075"/>
            <a:ext cx="1961072" cy="1961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28" title="langchainLog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17139" y="7102039"/>
            <a:ext cx="1850701" cy="185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28" title="icons8-duckduckgo-48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279058" y="3875688"/>
            <a:ext cx="1674400" cy="167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28" title="icons8-streamlit-48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847425" y="6730497"/>
            <a:ext cx="1450125" cy="145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28" title="python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384927" y="1472900"/>
            <a:ext cx="1450125" cy="145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28" title="fastapi-logo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102537" y="4646325"/>
            <a:ext cx="1450125" cy="145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2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726343" y="7763983"/>
            <a:ext cx="2220058" cy="2220057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28"/>
          <p:cNvSpPr txBox="1"/>
          <p:nvPr/>
        </p:nvSpPr>
        <p:spPr>
          <a:xfrm>
            <a:off x="16252878" y="8366113"/>
            <a:ext cx="1167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1</a:t>
            </a: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6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29"/>
          <p:cNvPicPr preferRelativeResize="0"/>
          <p:nvPr/>
        </p:nvPicPr>
        <p:blipFill rotWithShape="1">
          <a:blip r:embed="rId3">
            <a:alphaModFix/>
          </a:blip>
          <a:srcRect b="996" l="0" r="1254" t="2301"/>
          <a:stretch/>
        </p:blipFill>
        <p:spPr>
          <a:xfrm>
            <a:off x="5570495" y="3220136"/>
            <a:ext cx="6870565" cy="6203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5133" y="2555127"/>
            <a:ext cx="1987502" cy="1987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8573" y="2555127"/>
            <a:ext cx="2008500" cy="200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76186" y="7423130"/>
            <a:ext cx="1987502" cy="1987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2901" y="7725503"/>
            <a:ext cx="1987502" cy="1987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97074" y="4960841"/>
            <a:ext cx="2440235" cy="2440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2634977">
            <a:off x="10073839" y="6996094"/>
            <a:ext cx="1004693" cy="517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2626649">
            <a:off x="9835802" y="4588693"/>
            <a:ext cx="1059537" cy="545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7932361">
            <a:off x="7319993" y="4373837"/>
            <a:ext cx="1154164" cy="594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7933388">
            <a:off x="7277067" y="7148461"/>
            <a:ext cx="1066674" cy="549338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29"/>
          <p:cNvSpPr txBox="1"/>
          <p:nvPr/>
        </p:nvSpPr>
        <p:spPr>
          <a:xfrm>
            <a:off x="12883600" y="7187750"/>
            <a:ext cx="4143300" cy="19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2800">
                <a:solidFill>
                  <a:schemeClr val="dk1"/>
                </a:solidFill>
              </a:rPr>
              <a:t>Hadoop HDFS est un </a:t>
            </a:r>
            <a:r>
              <a:rPr b="1" lang="en-US" sz="2800">
                <a:solidFill>
                  <a:schemeClr val="dk1"/>
                </a:solidFill>
              </a:rPr>
              <a:t>système de stockage distribué</a:t>
            </a:r>
            <a:r>
              <a:rPr lang="en-US" sz="2800">
                <a:solidFill>
                  <a:schemeClr val="dk1"/>
                </a:solidFill>
              </a:rPr>
              <a:t> pour de grandes données.</a:t>
            </a:r>
            <a:endParaRPr sz="2800">
              <a:solidFill>
                <a:srgbClr val="191919"/>
              </a:solidFill>
            </a:endParaRPr>
          </a:p>
        </p:txBody>
      </p:sp>
      <p:sp>
        <p:nvSpPr>
          <p:cNvPr id="495" name="Google Shape;495;p29"/>
          <p:cNvSpPr txBox="1"/>
          <p:nvPr/>
        </p:nvSpPr>
        <p:spPr>
          <a:xfrm>
            <a:off x="12479050" y="1702875"/>
            <a:ext cx="49524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2500">
                <a:solidFill>
                  <a:schemeClr val="dk1"/>
                </a:solidFill>
              </a:rPr>
              <a:t>Apache Spark est un </a:t>
            </a:r>
            <a:r>
              <a:rPr b="1" lang="en-US" sz="2500">
                <a:solidFill>
                  <a:schemeClr val="dk1"/>
                </a:solidFill>
              </a:rPr>
              <a:t>outil de traitement distribué de données massives</a:t>
            </a:r>
            <a:r>
              <a:rPr lang="en-US" sz="2500">
                <a:solidFill>
                  <a:schemeClr val="dk1"/>
                </a:solidFill>
              </a:rPr>
              <a:t>.</a:t>
            </a:r>
            <a:endParaRPr sz="2500">
              <a:solidFill>
                <a:srgbClr val="191919"/>
              </a:solidFill>
            </a:endParaRPr>
          </a:p>
        </p:txBody>
      </p:sp>
      <p:sp>
        <p:nvSpPr>
          <p:cNvPr id="496" name="Google Shape;496;p29"/>
          <p:cNvSpPr txBox="1"/>
          <p:nvPr/>
        </p:nvSpPr>
        <p:spPr>
          <a:xfrm>
            <a:off x="581775" y="1702875"/>
            <a:ext cx="4952400" cy="20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5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MongoDB est une </a:t>
            </a:r>
            <a:r>
              <a:rPr b="1" lang="en-US" sz="2800">
                <a:solidFill>
                  <a:schemeClr val="dk1"/>
                </a:solidFill>
              </a:rPr>
              <a:t>base de données NoSQL</a:t>
            </a:r>
            <a:r>
              <a:rPr lang="en-US" sz="2800">
                <a:solidFill>
                  <a:schemeClr val="dk1"/>
                </a:solidFill>
              </a:rPr>
              <a:t> orientée documents, permettant de stocker des données non structurées </a:t>
            </a:r>
            <a:endParaRPr sz="280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9"/>
          <p:cNvSpPr txBox="1"/>
          <p:nvPr/>
        </p:nvSpPr>
        <p:spPr>
          <a:xfrm>
            <a:off x="878167" y="7809050"/>
            <a:ext cx="43596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5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</a:rPr>
              <a:t>Ollama est une </a:t>
            </a:r>
            <a:r>
              <a:rPr b="1" lang="en-US" sz="2600">
                <a:solidFill>
                  <a:schemeClr val="dk1"/>
                </a:solidFill>
              </a:rPr>
              <a:t>plateforme d'IA</a:t>
            </a:r>
            <a:r>
              <a:rPr lang="en-US" sz="2600">
                <a:solidFill>
                  <a:schemeClr val="dk1"/>
                </a:solidFill>
              </a:rPr>
              <a:t> pour des réponses textuelles avec des modèles de langage.</a:t>
            </a:r>
            <a:endParaRPr sz="260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9"/>
          <p:cNvSpPr txBox="1"/>
          <p:nvPr/>
        </p:nvSpPr>
        <p:spPr>
          <a:xfrm>
            <a:off x="7810404" y="5928546"/>
            <a:ext cx="2440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191919"/>
                </a:solidFill>
                <a:latin typeface="Bree Serif"/>
                <a:ea typeface="Bree Serif"/>
                <a:cs typeface="Bree Serif"/>
                <a:sym typeface="Bree Serif"/>
              </a:rPr>
              <a:t>Outils</a:t>
            </a:r>
            <a:endParaRPr/>
          </a:p>
        </p:txBody>
      </p:sp>
      <p:pic>
        <p:nvPicPr>
          <p:cNvPr id="499" name="Google Shape;499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459200" y="8581344"/>
            <a:ext cx="1987502" cy="1987502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29"/>
          <p:cNvSpPr txBox="1"/>
          <p:nvPr/>
        </p:nvSpPr>
        <p:spPr>
          <a:xfrm>
            <a:off x="16897350" y="9043169"/>
            <a:ext cx="111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17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pic>
        <p:nvPicPr>
          <p:cNvPr id="501" name="Google Shape;501;p29" title="hdfs-log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962113" y="7809045"/>
            <a:ext cx="1215650" cy="1215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29" title="mongo-logo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56175" y="3051550"/>
            <a:ext cx="1873310" cy="101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29" title="spark-logo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204863" y="3080569"/>
            <a:ext cx="1688025" cy="897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29" title="ollama-logo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208825" y="8111425"/>
            <a:ext cx="1215650" cy="121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0"/>
          <p:cNvSpPr txBox="1"/>
          <p:nvPr/>
        </p:nvSpPr>
        <p:spPr>
          <a:xfrm>
            <a:off x="5181600" y="476250"/>
            <a:ext cx="7493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73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</a:rPr>
              <a:t>Configuration Spécialisée</a:t>
            </a:r>
            <a:endParaRPr b="1" sz="4400">
              <a:solidFill>
                <a:schemeClr val="dk1"/>
              </a:solidFill>
            </a:endParaRPr>
          </a:p>
        </p:txBody>
      </p:sp>
      <p:pic>
        <p:nvPicPr>
          <p:cNvPr id="511" name="Google Shape;51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35400" y="8572500"/>
            <a:ext cx="1934029" cy="1934029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0"/>
          <p:cNvSpPr txBox="1"/>
          <p:nvPr/>
        </p:nvSpPr>
        <p:spPr>
          <a:xfrm>
            <a:off x="16946813" y="9031682"/>
            <a:ext cx="111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18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513" name="Google Shape;513;p30"/>
          <p:cNvSpPr txBox="1"/>
          <p:nvPr/>
        </p:nvSpPr>
        <p:spPr>
          <a:xfrm>
            <a:off x="1174750" y="1587500"/>
            <a:ext cx="1428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Nous suivons les étapes suivantes pour configurer l'environnement complet :</a:t>
            </a:r>
            <a:endParaRPr sz="3000">
              <a:solidFill>
                <a:schemeClr val="dk1"/>
              </a:solidFill>
            </a:endParaRPr>
          </a:p>
        </p:txBody>
      </p:sp>
      <p:pic>
        <p:nvPicPr>
          <p:cNvPr id="514" name="Google Shape;514;p30" title="structConfi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9750" y="2720975"/>
            <a:ext cx="4508500" cy="666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1"/>
          <p:cNvSpPr txBox="1"/>
          <p:nvPr/>
        </p:nvSpPr>
        <p:spPr>
          <a:xfrm>
            <a:off x="825500" y="508000"/>
            <a:ext cx="5803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/>
              <a:t>1. Prérequis &amp; Vérifications : </a:t>
            </a:r>
            <a:endParaRPr b="1" sz="3400"/>
          </a:p>
        </p:txBody>
      </p:sp>
      <p:pic>
        <p:nvPicPr>
          <p:cNvPr id="521" name="Google Shape;521;p31" title="photo_2025-04-27_11-40-4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400" y="1495400"/>
            <a:ext cx="8782050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31"/>
          <p:cNvSpPr txBox="1"/>
          <p:nvPr/>
        </p:nvSpPr>
        <p:spPr>
          <a:xfrm>
            <a:off x="825500" y="3317850"/>
            <a:ext cx="4851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/>
              <a:t>2. Installation Hadoop</a:t>
            </a:r>
            <a:endParaRPr b="1"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/>
          </a:p>
        </p:txBody>
      </p:sp>
      <p:sp>
        <p:nvSpPr>
          <p:cNvPr id="523" name="Google Shape;523;p31"/>
          <p:cNvSpPr txBox="1"/>
          <p:nvPr/>
        </p:nvSpPr>
        <p:spPr>
          <a:xfrm>
            <a:off x="1572000" y="4286250"/>
            <a:ext cx="148998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E</a:t>
            </a:r>
            <a:r>
              <a:rPr b="1" lang="en-US" sz="2800"/>
              <a:t>tapes clés :</a:t>
            </a:r>
            <a:endParaRPr b="1" sz="2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Téléchargement archive Hadoop → Extraction dans C:\hadoop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t/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Configuration variables : </a:t>
            </a:r>
            <a:r>
              <a:rPr lang="en-US" sz="2800">
                <a:highlight>
                  <a:srgbClr val="C9DAF8"/>
                </a:highlight>
              </a:rPr>
              <a:t>HADOOP_HOME=C:\hadoop PATH=%HADOOP_HOME%\bin</a:t>
            </a:r>
            <a:endParaRPr sz="2800">
              <a:highlight>
                <a:srgbClr val="C9DAF8"/>
              </a:highlight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t/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sz="2800">
                <a:solidFill>
                  <a:schemeClr val="dk1"/>
                </a:solidFill>
              </a:rPr>
              <a:t>Copie de hadoop.dll dans C:\Windows\System32</a:t>
            </a:r>
            <a:endParaRPr sz="2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pic>
        <p:nvPicPr>
          <p:cNvPr id="524" name="Google Shape;524;p31" title="hdfsvali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9650" y="7984700"/>
            <a:ext cx="1219200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59200" y="8581344"/>
            <a:ext cx="1987502" cy="1987502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1"/>
          <p:cNvSpPr txBox="1"/>
          <p:nvPr/>
        </p:nvSpPr>
        <p:spPr>
          <a:xfrm>
            <a:off x="16897350" y="9043169"/>
            <a:ext cx="111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19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2"/>
          <p:cNvSpPr txBox="1"/>
          <p:nvPr/>
        </p:nvSpPr>
        <p:spPr>
          <a:xfrm>
            <a:off x="730250" y="698500"/>
            <a:ext cx="5772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Configuration fichiers *-site.xml :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2"/>
          <p:cNvSpPr txBox="1"/>
          <p:nvPr/>
        </p:nvSpPr>
        <p:spPr>
          <a:xfrm>
            <a:off x="1395625" y="1690125"/>
            <a:ext cx="14739300" cy="79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core-site.xml :</a:t>
            </a:r>
            <a:endParaRPr sz="2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	</a:t>
            </a:r>
            <a:endParaRPr sz="2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hdfs-site.xml : 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pic>
        <p:nvPicPr>
          <p:cNvPr id="534" name="Google Shape;534;p32" title="core-site.xml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1800" y="1956550"/>
            <a:ext cx="11143026" cy="176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32" title="hdfs-site.xml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4175" y="4366875"/>
            <a:ext cx="12058275" cy="53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59200" y="8581344"/>
            <a:ext cx="1987502" cy="1987502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32"/>
          <p:cNvSpPr txBox="1"/>
          <p:nvPr/>
        </p:nvSpPr>
        <p:spPr>
          <a:xfrm>
            <a:off x="16897350" y="9043169"/>
            <a:ext cx="111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20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3"/>
          <p:cNvSpPr txBox="1"/>
          <p:nvPr/>
        </p:nvSpPr>
        <p:spPr>
          <a:xfrm>
            <a:off x="1234350" y="607775"/>
            <a:ext cx="15846000" cy="6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mapred-site.xml :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yarn-site.xml :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544" name="Google Shape;544;p33" title="mapred-site.xml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6150" y="1765750"/>
            <a:ext cx="11165574" cy="309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33" title="yarn-site.xml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6250" y="6486775"/>
            <a:ext cx="10827901" cy="341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59200" y="8581344"/>
            <a:ext cx="1987502" cy="1987502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33"/>
          <p:cNvSpPr txBox="1"/>
          <p:nvPr/>
        </p:nvSpPr>
        <p:spPr>
          <a:xfrm>
            <a:off x="16897350" y="9043169"/>
            <a:ext cx="111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21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35400" y="8572500"/>
            <a:ext cx="1934029" cy="1934029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34"/>
          <p:cNvSpPr txBox="1"/>
          <p:nvPr/>
        </p:nvSpPr>
        <p:spPr>
          <a:xfrm>
            <a:off x="16946813" y="9031682"/>
            <a:ext cx="111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22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554" name="Google Shape;554;p34"/>
          <p:cNvSpPr txBox="1"/>
          <p:nvPr/>
        </p:nvSpPr>
        <p:spPr>
          <a:xfrm>
            <a:off x="1078775" y="1200150"/>
            <a:ext cx="749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Vérification la configuration de HADOOP </a:t>
            </a:r>
            <a:r>
              <a:rPr lang="en-US" sz="2800">
                <a:solidFill>
                  <a:schemeClr val="dk1"/>
                </a:solidFill>
              </a:rPr>
              <a:t>: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555" name="Google Shape;555;p34"/>
          <p:cNvSpPr txBox="1"/>
          <p:nvPr/>
        </p:nvSpPr>
        <p:spPr>
          <a:xfrm>
            <a:off x="1078775" y="6755250"/>
            <a:ext cx="13413000" cy="31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73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dk1"/>
                </a:solidFill>
              </a:rPr>
              <a:t>Apache Spark : </a:t>
            </a:r>
            <a:endParaRPr b="1" sz="3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3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Procédure :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73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Téléchargement Spark → Extraction dans C:\spar</a:t>
            </a:r>
            <a:r>
              <a:rPr lang="en-US" sz="2800">
                <a:solidFill>
                  <a:schemeClr val="dk1"/>
                </a:solidFill>
              </a:rPr>
              <a:t>k-3.3.2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73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Variables d’environnement : </a:t>
            </a:r>
            <a:r>
              <a:rPr lang="en-US" sz="2800">
                <a:solidFill>
                  <a:schemeClr val="dk1"/>
                </a:solidFill>
                <a:highlight>
                  <a:srgbClr val="C9DAF8"/>
                </a:highlight>
              </a:rPr>
              <a:t>SPARK_HOME=C:\spark PATH=%SPARK_HOME%\bin</a:t>
            </a:r>
            <a:endParaRPr b="1" sz="3800">
              <a:solidFill>
                <a:schemeClr val="dk1"/>
              </a:solidFill>
              <a:highlight>
                <a:srgbClr val="C9DAF8"/>
              </a:highlight>
            </a:endParaRPr>
          </a:p>
        </p:txBody>
      </p:sp>
      <p:pic>
        <p:nvPicPr>
          <p:cNvPr id="556" name="Google Shape;556;p34" title="hdfsconfi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7837" y="4533750"/>
            <a:ext cx="15831527" cy="206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34" title="hdfsvalid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07836" y="1977738"/>
            <a:ext cx="15831549" cy="2152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34" title="sparktes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85040" y="7118787"/>
            <a:ext cx="11276836" cy="1453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5"/>
          <p:cNvSpPr txBox="1"/>
          <p:nvPr/>
        </p:nvSpPr>
        <p:spPr>
          <a:xfrm>
            <a:off x="825450" y="554425"/>
            <a:ext cx="7493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73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dk1"/>
                </a:solidFill>
              </a:rPr>
              <a:t>Ollama LLM : </a:t>
            </a:r>
            <a:r>
              <a:rPr lang="en-US" sz="3000">
                <a:solidFill>
                  <a:schemeClr val="dk1"/>
                </a:solidFill>
              </a:rPr>
              <a:t>Lancement</a:t>
            </a:r>
            <a:endParaRPr b="1" sz="3000">
              <a:solidFill>
                <a:schemeClr val="dk1"/>
              </a:solidFill>
            </a:endParaRPr>
          </a:p>
        </p:txBody>
      </p:sp>
      <p:pic>
        <p:nvPicPr>
          <p:cNvPr id="564" name="Google Shape;564;p35" title="ollamaTe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9600" y="1603325"/>
            <a:ext cx="11747499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35"/>
          <p:cNvSpPr txBox="1"/>
          <p:nvPr/>
        </p:nvSpPr>
        <p:spPr>
          <a:xfrm>
            <a:off x="825450" y="3724225"/>
            <a:ext cx="7493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73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dk1"/>
                </a:solidFill>
              </a:rPr>
              <a:t>Optimisation MongoDB : 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566" name="Google Shape;566;p35"/>
          <p:cNvSpPr txBox="1"/>
          <p:nvPr/>
        </p:nvSpPr>
        <p:spPr>
          <a:xfrm>
            <a:off x="1003300" y="4633425"/>
            <a:ext cx="160401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/>
              <a:t>Découpage 3 Niveaux : </a:t>
            </a:r>
            <a:endParaRPr b="1"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Parent (doc complet) → Moyen (section) → Petit (phrase clé)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*Ex: DSM-5 → "Troubles anxieux" → "Critères diagnostiques GAD"*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/>
              <a:t>Embeddings Ciblés : </a:t>
            </a:r>
            <a:endParaRPr b="1"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Calculés uniquement sur petits chunks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/>
              <a:t>Double Récupération :</a:t>
            </a:r>
            <a:endParaRPr b="1"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Similarité sur petits chunks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Retour du chunk moyen → Contexte préservé</a:t>
            </a:r>
            <a:endParaRPr sz="2700"/>
          </a:p>
        </p:txBody>
      </p:sp>
      <p:pic>
        <p:nvPicPr>
          <p:cNvPr id="567" name="Google Shape;56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26343" y="7763983"/>
            <a:ext cx="2220058" cy="2220057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35"/>
          <p:cNvSpPr txBox="1"/>
          <p:nvPr/>
        </p:nvSpPr>
        <p:spPr>
          <a:xfrm>
            <a:off x="16182824" y="8366113"/>
            <a:ext cx="1307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23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6"/>
          <p:cNvSpPr txBox="1"/>
          <p:nvPr/>
        </p:nvSpPr>
        <p:spPr>
          <a:xfrm>
            <a:off x="927000" y="4510150"/>
            <a:ext cx="4784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</a:rPr>
              <a:t>parents_with_first_child</a:t>
            </a:r>
            <a:endParaRPr b="1" sz="2700">
              <a:solidFill>
                <a:schemeClr val="dk1"/>
              </a:solidFill>
            </a:endParaRPr>
          </a:p>
        </p:txBody>
      </p:sp>
      <p:sp>
        <p:nvSpPr>
          <p:cNvPr id="575" name="Google Shape;575;p36"/>
          <p:cNvSpPr txBox="1"/>
          <p:nvPr/>
        </p:nvSpPr>
        <p:spPr>
          <a:xfrm>
            <a:off x="1231800" y="544400"/>
            <a:ext cx="3340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</a:rPr>
              <a:t>parent_child_counts</a:t>
            </a:r>
            <a:endParaRPr b="1" sz="2700">
              <a:solidFill>
                <a:schemeClr val="dk1"/>
              </a:solidFill>
            </a:endParaRPr>
          </a:p>
        </p:txBody>
      </p:sp>
      <p:pic>
        <p:nvPicPr>
          <p:cNvPr id="576" name="Google Shape;576;p36" title="par_chi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8072" y="1144700"/>
            <a:ext cx="15429779" cy="305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36" title="par_firs_chil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7325" y="5110450"/>
            <a:ext cx="13633352" cy="4599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26343" y="7763983"/>
            <a:ext cx="2220058" cy="2220057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36"/>
          <p:cNvSpPr txBox="1"/>
          <p:nvPr/>
        </p:nvSpPr>
        <p:spPr>
          <a:xfrm>
            <a:off x="16222429" y="8366113"/>
            <a:ext cx="1227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24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7"/>
          <p:cNvSpPr/>
          <p:nvPr/>
        </p:nvSpPr>
        <p:spPr>
          <a:xfrm>
            <a:off x="1404622" y="2206272"/>
            <a:ext cx="571200" cy="48807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6" name="Google Shape;586;p37"/>
          <p:cNvGrpSpPr/>
          <p:nvPr/>
        </p:nvGrpSpPr>
        <p:grpSpPr>
          <a:xfrm>
            <a:off x="961578" y="6090750"/>
            <a:ext cx="1298179" cy="1153556"/>
            <a:chOff x="0" y="0"/>
            <a:chExt cx="1950975" cy="1733628"/>
          </a:xfrm>
        </p:grpSpPr>
        <p:pic>
          <p:nvPicPr>
            <p:cNvPr id="587" name="Google Shape;587;p37"/>
            <p:cNvPicPr preferRelativeResize="0"/>
            <p:nvPr/>
          </p:nvPicPr>
          <p:blipFill rotWithShape="1">
            <a:blip r:embed="rId3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8" name="Google Shape;588;p37"/>
            <p:cNvSpPr txBox="1"/>
            <p:nvPr/>
          </p:nvSpPr>
          <p:spPr>
            <a:xfrm>
              <a:off x="253507" y="457211"/>
              <a:ext cx="1443900" cy="8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</p:grpSp>
      <p:sp>
        <p:nvSpPr>
          <p:cNvPr id="589" name="Google Shape;589;p37"/>
          <p:cNvSpPr/>
          <p:nvPr/>
        </p:nvSpPr>
        <p:spPr>
          <a:xfrm>
            <a:off x="10224525" y="2534330"/>
            <a:ext cx="535200" cy="45729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0" name="Google Shape;590;p37"/>
          <p:cNvGrpSpPr/>
          <p:nvPr/>
        </p:nvGrpSpPr>
        <p:grpSpPr>
          <a:xfrm>
            <a:off x="9883930" y="2460736"/>
            <a:ext cx="1216433" cy="1080917"/>
            <a:chOff x="0" y="0"/>
            <a:chExt cx="1950975" cy="1733628"/>
          </a:xfrm>
        </p:grpSpPr>
        <p:pic>
          <p:nvPicPr>
            <p:cNvPr id="591" name="Google Shape;591;p37"/>
            <p:cNvPicPr preferRelativeResize="0"/>
            <p:nvPr/>
          </p:nvPicPr>
          <p:blipFill rotWithShape="1">
            <a:blip r:embed="rId4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2" name="Google Shape;592;p37"/>
            <p:cNvSpPr txBox="1"/>
            <p:nvPr/>
          </p:nvSpPr>
          <p:spPr>
            <a:xfrm>
              <a:off x="253507" y="457211"/>
              <a:ext cx="1443900" cy="88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/>
            </a:p>
          </p:txBody>
        </p:sp>
      </p:grpSp>
      <p:sp>
        <p:nvSpPr>
          <p:cNvPr id="593" name="Google Shape;593;p37"/>
          <p:cNvSpPr/>
          <p:nvPr/>
        </p:nvSpPr>
        <p:spPr>
          <a:xfrm>
            <a:off x="15723311" y="2613278"/>
            <a:ext cx="564000" cy="48180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4" name="Google Shape;594;p37"/>
          <p:cNvGrpSpPr/>
          <p:nvPr/>
        </p:nvGrpSpPr>
        <p:grpSpPr>
          <a:xfrm>
            <a:off x="15364454" y="2535738"/>
            <a:ext cx="1281596" cy="1138820"/>
            <a:chOff x="0" y="0"/>
            <a:chExt cx="1950975" cy="1733628"/>
          </a:xfrm>
        </p:grpSpPr>
        <p:pic>
          <p:nvPicPr>
            <p:cNvPr id="595" name="Google Shape;595;p37"/>
            <p:cNvPicPr preferRelativeResize="0"/>
            <p:nvPr/>
          </p:nvPicPr>
          <p:blipFill rotWithShape="1">
            <a:blip r:embed="rId5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6" name="Google Shape;596;p37"/>
            <p:cNvSpPr txBox="1"/>
            <p:nvPr/>
          </p:nvSpPr>
          <p:spPr>
            <a:xfrm>
              <a:off x="253507" y="457211"/>
              <a:ext cx="1443900" cy="8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FFFF"/>
                  </a:solidFill>
                </a:rPr>
                <a:t>06</a:t>
              </a:r>
              <a:endParaRPr/>
            </a:p>
          </p:txBody>
        </p:sp>
      </p:grpSp>
      <p:sp>
        <p:nvSpPr>
          <p:cNvPr id="597" name="Google Shape;597;p37"/>
          <p:cNvSpPr/>
          <p:nvPr/>
        </p:nvSpPr>
        <p:spPr>
          <a:xfrm>
            <a:off x="7123021" y="2435380"/>
            <a:ext cx="551700" cy="47133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8" name="Google Shape;598;p37"/>
          <p:cNvGrpSpPr/>
          <p:nvPr/>
        </p:nvGrpSpPr>
        <p:grpSpPr>
          <a:xfrm>
            <a:off x="6771952" y="6110519"/>
            <a:ext cx="1253697" cy="1114029"/>
            <a:chOff x="0" y="0"/>
            <a:chExt cx="1950975" cy="1733628"/>
          </a:xfrm>
        </p:grpSpPr>
        <p:pic>
          <p:nvPicPr>
            <p:cNvPr id="599" name="Google Shape;599;p37"/>
            <p:cNvPicPr preferRelativeResize="0"/>
            <p:nvPr/>
          </p:nvPicPr>
          <p:blipFill rotWithShape="1">
            <a:blip r:embed="rId6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37"/>
            <p:cNvSpPr txBox="1"/>
            <p:nvPr/>
          </p:nvSpPr>
          <p:spPr>
            <a:xfrm>
              <a:off x="253507" y="457211"/>
              <a:ext cx="1443900" cy="8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/>
            </a:p>
          </p:txBody>
        </p:sp>
      </p:grpSp>
      <p:grpSp>
        <p:nvGrpSpPr>
          <p:cNvPr id="601" name="Google Shape;601;p37"/>
          <p:cNvGrpSpPr/>
          <p:nvPr/>
        </p:nvGrpSpPr>
        <p:grpSpPr>
          <a:xfrm rot="-5400000">
            <a:off x="1218411" y="5519174"/>
            <a:ext cx="806956" cy="236050"/>
            <a:chOff x="0" y="1270"/>
            <a:chExt cx="1727957" cy="505460"/>
          </a:xfrm>
        </p:grpSpPr>
        <p:sp>
          <p:nvSpPr>
            <p:cNvPr id="602" name="Google Shape;602;p37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86EAE9"/>
            </a:solidFill>
            <a:ln>
              <a:noFill/>
            </a:ln>
          </p:spPr>
        </p:sp>
        <p:sp>
          <p:nvSpPr>
            <p:cNvPr id="603" name="Google Shape;603;p37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86EAE9"/>
            </a:solidFill>
            <a:ln>
              <a:noFill/>
            </a:ln>
          </p:spPr>
        </p:sp>
      </p:grpSp>
      <p:grpSp>
        <p:nvGrpSpPr>
          <p:cNvPr id="604" name="Google Shape;604;p37"/>
          <p:cNvGrpSpPr/>
          <p:nvPr/>
        </p:nvGrpSpPr>
        <p:grpSpPr>
          <a:xfrm rot="5400000">
            <a:off x="10114138" y="3876783"/>
            <a:ext cx="755981" cy="221139"/>
            <a:chOff x="0" y="1270"/>
            <a:chExt cx="1727957" cy="505460"/>
          </a:xfrm>
        </p:grpSpPr>
        <p:sp>
          <p:nvSpPr>
            <p:cNvPr id="605" name="Google Shape;605;p37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606" name="Google Shape;606;p37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</p:grpSp>
      <p:grpSp>
        <p:nvGrpSpPr>
          <p:cNvPr id="607" name="Google Shape;607;p37"/>
          <p:cNvGrpSpPr/>
          <p:nvPr/>
        </p:nvGrpSpPr>
        <p:grpSpPr>
          <a:xfrm rot="5400000">
            <a:off x="15606958" y="4027734"/>
            <a:ext cx="796588" cy="233017"/>
            <a:chOff x="0" y="1270"/>
            <a:chExt cx="1727957" cy="505460"/>
          </a:xfrm>
        </p:grpSpPr>
        <p:sp>
          <p:nvSpPr>
            <p:cNvPr id="608" name="Google Shape;608;p37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  <p:sp>
          <p:nvSpPr>
            <p:cNvPr id="609" name="Google Shape;609;p37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</p:grpSp>
      <p:grpSp>
        <p:nvGrpSpPr>
          <p:cNvPr id="610" name="Google Shape;610;p37"/>
          <p:cNvGrpSpPr/>
          <p:nvPr/>
        </p:nvGrpSpPr>
        <p:grpSpPr>
          <a:xfrm rot="-5400000">
            <a:off x="7009197" y="5537044"/>
            <a:ext cx="779309" cy="227962"/>
            <a:chOff x="0" y="1270"/>
            <a:chExt cx="1727957" cy="505460"/>
          </a:xfrm>
        </p:grpSpPr>
        <p:sp>
          <p:nvSpPr>
            <p:cNvPr id="611" name="Google Shape;611;p37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C92D5"/>
            </a:solidFill>
            <a:ln>
              <a:noFill/>
            </a:ln>
          </p:spPr>
        </p:sp>
        <p:sp>
          <p:nvSpPr>
            <p:cNvPr id="612" name="Google Shape;612;p37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2C92D5"/>
            </a:solidFill>
            <a:ln>
              <a:noFill/>
            </a:ln>
          </p:spPr>
        </p:sp>
      </p:grpSp>
      <p:grpSp>
        <p:nvGrpSpPr>
          <p:cNvPr id="613" name="Google Shape;613;p37"/>
          <p:cNvGrpSpPr/>
          <p:nvPr/>
        </p:nvGrpSpPr>
        <p:grpSpPr>
          <a:xfrm>
            <a:off x="341587" y="2560210"/>
            <a:ext cx="2753018" cy="3813005"/>
            <a:chOff x="-322888" y="-4433993"/>
            <a:chExt cx="4137388" cy="5730395"/>
          </a:xfrm>
        </p:grpSpPr>
        <p:sp>
          <p:nvSpPr>
            <p:cNvPr id="614" name="Google Shape;614;p37"/>
            <p:cNvSpPr txBox="1"/>
            <p:nvPr/>
          </p:nvSpPr>
          <p:spPr>
            <a:xfrm>
              <a:off x="-322888" y="-4433993"/>
              <a:ext cx="3814500" cy="6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  <a:endParaRPr/>
            </a:p>
          </p:txBody>
        </p:sp>
        <p:sp>
          <p:nvSpPr>
            <p:cNvPr id="615" name="Google Shape;615;p37"/>
            <p:cNvSpPr txBox="1"/>
            <p:nvPr/>
          </p:nvSpPr>
          <p:spPr>
            <a:xfrm>
              <a:off x="0" y="880002"/>
              <a:ext cx="3814500" cy="41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6" name="Google Shape;616;p37"/>
          <p:cNvGrpSpPr/>
          <p:nvPr/>
        </p:nvGrpSpPr>
        <p:grpSpPr>
          <a:xfrm>
            <a:off x="8833637" y="5644337"/>
            <a:ext cx="3229792" cy="833406"/>
            <a:chOff x="-767286" y="-31406"/>
            <a:chExt cx="5180100" cy="1336658"/>
          </a:xfrm>
        </p:grpSpPr>
        <p:sp>
          <p:nvSpPr>
            <p:cNvPr id="617" name="Google Shape;617;p37"/>
            <p:cNvSpPr txBox="1"/>
            <p:nvPr/>
          </p:nvSpPr>
          <p:spPr>
            <a:xfrm>
              <a:off x="-767286" y="-31406"/>
              <a:ext cx="5180100" cy="6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91919"/>
                  </a:solidFill>
                </a:rPr>
                <a:t>IMPLÉMENTATION</a:t>
              </a:r>
              <a:endParaRPr sz="2800"/>
            </a:p>
          </p:txBody>
        </p:sp>
        <p:sp>
          <p:nvSpPr>
            <p:cNvPr id="618" name="Google Shape;618;p37"/>
            <p:cNvSpPr txBox="1"/>
            <p:nvPr/>
          </p:nvSpPr>
          <p:spPr>
            <a:xfrm>
              <a:off x="0" y="860952"/>
              <a:ext cx="3785400" cy="44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9" name="Google Shape;619;p37"/>
          <p:cNvGrpSpPr/>
          <p:nvPr/>
        </p:nvGrpSpPr>
        <p:grpSpPr>
          <a:xfrm>
            <a:off x="5934836" y="2417025"/>
            <a:ext cx="3229713" cy="850442"/>
            <a:chOff x="-574308" y="-31387"/>
            <a:chExt cx="5026008" cy="1323439"/>
          </a:xfrm>
        </p:grpSpPr>
        <p:sp>
          <p:nvSpPr>
            <p:cNvPr id="620" name="Google Shape;620;p37"/>
            <p:cNvSpPr txBox="1"/>
            <p:nvPr/>
          </p:nvSpPr>
          <p:spPr>
            <a:xfrm>
              <a:off x="-574308" y="-31387"/>
              <a:ext cx="50259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91919"/>
                  </a:solidFill>
                </a:rPr>
                <a:t>CONCEPTION</a:t>
              </a:r>
              <a:endParaRPr sz="2800"/>
            </a:p>
          </p:txBody>
        </p:sp>
        <p:sp>
          <p:nvSpPr>
            <p:cNvPr id="621" name="Google Shape;621;p37"/>
            <p:cNvSpPr txBox="1"/>
            <p:nvPr/>
          </p:nvSpPr>
          <p:spPr>
            <a:xfrm>
              <a:off x="0" y="860952"/>
              <a:ext cx="4451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2" name="Google Shape;622;p37"/>
          <p:cNvSpPr txBox="1"/>
          <p:nvPr/>
        </p:nvSpPr>
        <p:spPr>
          <a:xfrm>
            <a:off x="14828338" y="6077649"/>
            <a:ext cx="236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CONCLUSION </a:t>
            </a:r>
            <a:endParaRPr/>
          </a:p>
        </p:txBody>
      </p:sp>
      <p:pic>
        <p:nvPicPr>
          <p:cNvPr id="623" name="Google Shape;623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726343" y="7763983"/>
            <a:ext cx="2220058" cy="2220057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37"/>
          <p:cNvSpPr txBox="1"/>
          <p:nvPr/>
        </p:nvSpPr>
        <p:spPr>
          <a:xfrm>
            <a:off x="16200824" y="8366113"/>
            <a:ext cx="1271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25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625" name="Google Shape;625;p37"/>
          <p:cNvSpPr/>
          <p:nvPr/>
        </p:nvSpPr>
        <p:spPr>
          <a:xfrm>
            <a:off x="4339600" y="2293455"/>
            <a:ext cx="535200" cy="45729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6" name="Google Shape;626;p37"/>
          <p:cNvGrpSpPr/>
          <p:nvPr/>
        </p:nvGrpSpPr>
        <p:grpSpPr>
          <a:xfrm>
            <a:off x="3999005" y="2219861"/>
            <a:ext cx="1216433" cy="1080917"/>
            <a:chOff x="0" y="0"/>
            <a:chExt cx="1950975" cy="1733628"/>
          </a:xfrm>
        </p:grpSpPr>
        <p:pic>
          <p:nvPicPr>
            <p:cNvPr id="627" name="Google Shape;627;p37"/>
            <p:cNvPicPr preferRelativeResize="0"/>
            <p:nvPr/>
          </p:nvPicPr>
          <p:blipFill rotWithShape="1">
            <a:blip r:embed="rId4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8" name="Google Shape;628;p37"/>
            <p:cNvSpPr txBox="1"/>
            <p:nvPr/>
          </p:nvSpPr>
          <p:spPr>
            <a:xfrm>
              <a:off x="253507" y="457211"/>
              <a:ext cx="1443900" cy="88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US" sz="3600">
                  <a:solidFill>
                    <a:srgbClr val="FFFFFF"/>
                  </a:solidFill>
                </a:rPr>
                <a:t>2</a:t>
              </a:r>
              <a:endParaRPr/>
            </a:p>
          </p:txBody>
        </p:sp>
      </p:grpSp>
      <p:grpSp>
        <p:nvGrpSpPr>
          <p:cNvPr id="629" name="Google Shape;629;p37"/>
          <p:cNvGrpSpPr/>
          <p:nvPr/>
        </p:nvGrpSpPr>
        <p:grpSpPr>
          <a:xfrm rot="5400000">
            <a:off x="4229213" y="3635908"/>
            <a:ext cx="755981" cy="221139"/>
            <a:chOff x="0" y="1270"/>
            <a:chExt cx="1727957" cy="505460"/>
          </a:xfrm>
        </p:grpSpPr>
        <p:sp>
          <p:nvSpPr>
            <p:cNvPr id="630" name="Google Shape;630;p37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631" name="Google Shape;631;p37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</p:grpSp>
      <p:grpSp>
        <p:nvGrpSpPr>
          <p:cNvPr id="632" name="Google Shape;632;p37"/>
          <p:cNvGrpSpPr/>
          <p:nvPr/>
        </p:nvGrpSpPr>
        <p:grpSpPr>
          <a:xfrm>
            <a:off x="3427115" y="5403468"/>
            <a:ext cx="2360197" cy="833401"/>
            <a:chOff x="0" y="-31397"/>
            <a:chExt cx="3785400" cy="1336649"/>
          </a:xfrm>
        </p:grpSpPr>
        <p:sp>
          <p:nvSpPr>
            <p:cNvPr id="633" name="Google Shape;633;p37"/>
            <p:cNvSpPr txBox="1"/>
            <p:nvPr/>
          </p:nvSpPr>
          <p:spPr>
            <a:xfrm>
              <a:off x="0" y="-31397"/>
              <a:ext cx="3785400" cy="6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91919"/>
                  </a:solidFill>
                </a:rPr>
                <a:t>État de l'Art</a:t>
              </a:r>
              <a:endParaRPr sz="2800"/>
            </a:p>
          </p:txBody>
        </p:sp>
        <p:sp>
          <p:nvSpPr>
            <p:cNvPr id="634" name="Google Shape;634;p37"/>
            <p:cNvSpPr txBox="1"/>
            <p:nvPr/>
          </p:nvSpPr>
          <p:spPr>
            <a:xfrm>
              <a:off x="0" y="860952"/>
              <a:ext cx="3785400" cy="44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5" name="Google Shape;635;p37"/>
          <p:cNvSpPr/>
          <p:nvPr/>
        </p:nvSpPr>
        <p:spPr>
          <a:xfrm>
            <a:off x="12748161" y="779213"/>
            <a:ext cx="850500" cy="850500"/>
          </a:xfrm>
          <a:prstGeom prst="donut">
            <a:avLst>
              <a:gd fmla="val 25000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7"/>
          <p:cNvSpPr/>
          <p:nvPr/>
        </p:nvSpPr>
        <p:spPr>
          <a:xfrm>
            <a:off x="12893742" y="2668273"/>
            <a:ext cx="559200" cy="46305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7" name="Google Shape;637;p37"/>
          <p:cNvGrpSpPr/>
          <p:nvPr/>
        </p:nvGrpSpPr>
        <p:grpSpPr>
          <a:xfrm>
            <a:off x="12537843" y="6246314"/>
            <a:ext cx="1271060" cy="1129458"/>
            <a:chOff x="0" y="0"/>
            <a:chExt cx="1950975" cy="1733628"/>
          </a:xfrm>
        </p:grpSpPr>
        <p:pic>
          <p:nvPicPr>
            <p:cNvPr id="638" name="Google Shape;638;p37"/>
            <p:cNvPicPr preferRelativeResize="0"/>
            <p:nvPr/>
          </p:nvPicPr>
          <p:blipFill rotWithShape="1">
            <a:blip r:embed="rId8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9" name="Google Shape;639;p37"/>
            <p:cNvSpPr txBox="1"/>
            <p:nvPr/>
          </p:nvSpPr>
          <p:spPr>
            <a:xfrm>
              <a:off x="253507" y="457211"/>
              <a:ext cx="1443900" cy="8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FFFF"/>
                  </a:solidFill>
                </a:rPr>
                <a:t>05</a:t>
              </a:r>
              <a:endParaRPr/>
            </a:p>
          </p:txBody>
        </p:sp>
      </p:grpSp>
      <p:grpSp>
        <p:nvGrpSpPr>
          <p:cNvPr id="640" name="Google Shape;640;p37"/>
          <p:cNvGrpSpPr/>
          <p:nvPr/>
        </p:nvGrpSpPr>
        <p:grpSpPr>
          <a:xfrm rot="-5400000">
            <a:off x="12778354" y="5664954"/>
            <a:ext cx="790022" cy="231096"/>
            <a:chOff x="0" y="1270"/>
            <a:chExt cx="1727957" cy="505460"/>
          </a:xfrm>
        </p:grpSpPr>
        <p:sp>
          <p:nvSpPr>
            <p:cNvPr id="641" name="Google Shape;641;p37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EDAD8"/>
            </a:solidFill>
            <a:ln>
              <a:noFill/>
            </a:ln>
          </p:spPr>
        </p:sp>
        <p:sp>
          <p:nvSpPr>
            <p:cNvPr id="642" name="Google Shape;642;p37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3EDAD8"/>
            </a:solidFill>
            <a:ln>
              <a:noFill/>
            </a:ln>
          </p:spPr>
        </p:sp>
      </p:grpSp>
      <p:grpSp>
        <p:nvGrpSpPr>
          <p:cNvPr id="643" name="Google Shape;643;p37"/>
          <p:cNvGrpSpPr/>
          <p:nvPr/>
        </p:nvGrpSpPr>
        <p:grpSpPr>
          <a:xfrm>
            <a:off x="12063338" y="2467629"/>
            <a:ext cx="2220117" cy="1222572"/>
            <a:chOff x="0" y="-31397"/>
            <a:chExt cx="3407700" cy="1876549"/>
          </a:xfrm>
        </p:grpSpPr>
        <p:sp>
          <p:nvSpPr>
            <p:cNvPr id="644" name="Google Shape;644;p37"/>
            <p:cNvSpPr txBox="1"/>
            <p:nvPr/>
          </p:nvSpPr>
          <p:spPr>
            <a:xfrm>
              <a:off x="0" y="-31397"/>
              <a:ext cx="3407700" cy="66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91919"/>
                  </a:solidFill>
                </a:rPr>
                <a:t>Démo et Tests</a:t>
              </a:r>
              <a:endParaRPr sz="2800"/>
            </a:p>
          </p:txBody>
        </p:sp>
        <p:sp>
          <p:nvSpPr>
            <p:cNvPr id="645" name="Google Shape;645;p37"/>
            <p:cNvSpPr txBox="1"/>
            <p:nvPr/>
          </p:nvSpPr>
          <p:spPr>
            <a:xfrm>
              <a:off x="0" y="1419752"/>
              <a:ext cx="3407700" cy="42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30588" y="8572500"/>
            <a:ext cx="1990823" cy="1990823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38"/>
          <p:cNvSpPr txBox="1"/>
          <p:nvPr/>
        </p:nvSpPr>
        <p:spPr>
          <a:xfrm>
            <a:off x="16970398" y="9060079"/>
            <a:ext cx="111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26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652" name="Google Shape;652;p38"/>
          <p:cNvSpPr txBox="1"/>
          <p:nvPr/>
        </p:nvSpPr>
        <p:spPr>
          <a:xfrm>
            <a:off x="5314950" y="412750"/>
            <a:ext cx="7658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73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</a:rPr>
              <a:t>Démo et Tests</a:t>
            </a:r>
            <a:endParaRPr b="1" sz="4400">
              <a:solidFill>
                <a:schemeClr val="dk1"/>
              </a:solidFill>
            </a:endParaRPr>
          </a:p>
        </p:txBody>
      </p:sp>
      <p:pic>
        <p:nvPicPr>
          <p:cNvPr id="653" name="Google Shape;653;p38" title="photo_2025-04-27_07-12-48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250" y="1274650"/>
            <a:ext cx="17789501" cy="740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9"/>
          <p:cNvSpPr txBox="1"/>
          <p:nvPr/>
        </p:nvSpPr>
        <p:spPr>
          <a:xfrm>
            <a:off x="695250" y="254000"/>
            <a:ext cx="16897500" cy="45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/>
              <a:t>Notre System</a:t>
            </a:r>
            <a:r>
              <a:rPr b="1" lang="en-US" sz="3000"/>
              <a:t> : </a:t>
            </a:r>
            <a:endParaRPr b="1" sz="3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Répond aux questions sur l'impact de l'anxiété sur la santé.</a:t>
            </a:r>
            <a:br>
              <a:rPr lang="en-US" sz="3000"/>
            </a:b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Génère des réponses claires et structurées automatiquement (Prompts Anti-hulissination).</a:t>
            </a:r>
            <a:br>
              <a:rPr lang="en-US" sz="3000"/>
            </a:br>
            <a:endParaRPr sz="3000"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Basée sur une interaction simple : saisir une question ➔ obtenir une réponse.</a:t>
            </a:r>
            <a:br>
              <a:rPr lang="en-US" sz="3000"/>
            </a:b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Objectif : fournir des informations utiles sur la santé mentale.</a:t>
            </a:r>
            <a:endParaRPr sz="3000"/>
          </a:p>
        </p:txBody>
      </p:sp>
      <p:sp>
        <p:nvSpPr>
          <p:cNvPr id="660" name="Google Shape;660;p39"/>
          <p:cNvSpPr txBox="1"/>
          <p:nvPr/>
        </p:nvSpPr>
        <p:spPr>
          <a:xfrm>
            <a:off x="695250" y="5422900"/>
            <a:ext cx="168975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/>
              <a:t>Applications potentielles  </a:t>
            </a:r>
            <a:r>
              <a:rPr b="1" lang="en-US" sz="3000"/>
              <a:t>: </a:t>
            </a:r>
            <a:endParaRPr b="1" sz="3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1" lang="en-US" sz="3000"/>
              <a:t>Recherche biomédicale</a:t>
            </a:r>
            <a:r>
              <a:rPr lang="en-US" sz="3000"/>
              <a:t> : Accélérer les revues de littérature et synthétiser les connaissances.</a:t>
            </a:r>
            <a:endParaRPr sz="3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1" lang="en-US" sz="3000"/>
              <a:t>Aide à la décision clinique</a:t>
            </a:r>
            <a:r>
              <a:rPr lang="en-US" sz="3000"/>
              <a:t> : Fournir des informations médicales actualisées et aider au diagnostic.</a:t>
            </a:r>
            <a:endParaRPr sz="3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1" lang="en-US" sz="3000"/>
              <a:t>Éducation médicale</a:t>
            </a:r>
            <a:r>
              <a:rPr lang="en-US" sz="3000"/>
              <a:t> : Générer des Q/R pour l'apprentissage et créer des résumés thématiques.</a:t>
            </a:r>
            <a:endParaRPr sz="3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pic>
        <p:nvPicPr>
          <p:cNvPr id="661" name="Google Shape;66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26343" y="7763983"/>
            <a:ext cx="2220058" cy="2220057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39"/>
          <p:cNvSpPr txBox="1"/>
          <p:nvPr/>
        </p:nvSpPr>
        <p:spPr>
          <a:xfrm>
            <a:off x="16246279" y="8366113"/>
            <a:ext cx="1180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27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40"/>
          <p:cNvSpPr/>
          <p:nvPr/>
        </p:nvSpPr>
        <p:spPr>
          <a:xfrm>
            <a:off x="1404635" y="1968135"/>
            <a:ext cx="571200" cy="48807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8" name="Google Shape;668;p40"/>
          <p:cNvGrpSpPr/>
          <p:nvPr/>
        </p:nvGrpSpPr>
        <p:grpSpPr>
          <a:xfrm>
            <a:off x="961590" y="5852612"/>
            <a:ext cx="1298179" cy="1153556"/>
            <a:chOff x="0" y="0"/>
            <a:chExt cx="1950975" cy="1733628"/>
          </a:xfrm>
        </p:grpSpPr>
        <p:pic>
          <p:nvPicPr>
            <p:cNvPr id="669" name="Google Shape;669;p40"/>
            <p:cNvPicPr preferRelativeResize="0"/>
            <p:nvPr/>
          </p:nvPicPr>
          <p:blipFill rotWithShape="1">
            <a:blip r:embed="rId3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0" name="Google Shape;670;p40"/>
            <p:cNvSpPr txBox="1"/>
            <p:nvPr/>
          </p:nvSpPr>
          <p:spPr>
            <a:xfrm>
              <a:off x="253507" y="457211"/>
              <a:ext cx="1443900" cy="8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</p:grpSp>
      <p:sp>
        <p:nvSpPr>
          <p:cNvPr id="671" name="Google Shape;671;p40"/>
          <p:cNvSpPr/>
          <p:nvPr/>
        </p:nvSpPr>
        <p:spPr>
          <a:xfrm>
            <a:off x="10224538" y="2296193"/>
            <a:ext cx="535200" cy="45729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2" name="Google Shape;672;p40"/>
          <p:cNvGrpSpPr/>
          <p:nvPr/>
        </p:nvGrpSpPr>
        <p:grpSpPr>
          <a:xfrm>
            <a:off x="9883943" y="2222599"/>
            <a:ext cx="1216433" cy="1080917"/>
            <a:chOff x="0" y="0"/>
            <a:chExt cx="1950975" cy="1733628"/>
          </a:xfrm>
        </p:grpSpPr>
        <p:pic>
          <p:nvPicPr>
            <p:cNvPr id="673" name="Google Shape;673;p40"/>
            <p:cNvPicPr preferRelativeResize="0"/>
            <p:nvPr/>
          </p:nvPicPr>
          <p:blipFill rotWithShape="1">
            <a:blip r:embed="rId4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4" name="Google Shape;674;p40"/>
            <p:cNvSpPr txBox="1"/>
            <p:nvPr/>
          </p:nvSpPr>
          <p:spPr>
            <a:xfrm>
              <a:off x="253507" y="457211"/>
              <a:ext cx="1443900" cy="88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/>
            </a:p>
          </p:txBody>
        </p:sp>
      </p:grpSp>
      <p:sp>
        <p:nvSpPr>
          <p:cNvPr id="675" name="Google Shape;675;p40"/>
          <p:cNvSpPr/>
          <p:nvPr/>
        </p:nvSpPr>
        <p:spPr>
          <a:xfrm>
            <a:off x="15723323" y="2375140"/>
            <a:ext cx="564000" cy="48180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6" name="Google Shape;676;p40"/>
          <p:cNvGrpSpPr/>
          <p:nvPr/>
        </p:nvGrpSpPr>
        <p:grpSpPr>
          <a:xfrm>
            <a:off x="15364466" y="2297600"/>
            <a:ext cx="1281596" cy="1138820"/>
            <a:chOff x="0" y="0"/>
            <a:chExt cx="1950975" cy="1733628"/>
          </a:xfrm>
        </p:grpSpPr>
        <p:pic>
          <p:nvPicPr>
            <p:cNvPr id="677" name="Google Shape;677;p40"/>
            <p:cNvPicPr preferRelativeResize="0"/>
            <p:nvPr/>
          </p:nvPicPr>
          <p:blipFill rotWithShape="1">
            <a:blip r:embed="rId5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8" name="Google Shape;678;p40"/>
            <p:cNvSpPr txBox="1"/>
            <p:nvPr/>
          </p:nvSpPr>
          <p:spPr>
            <a:xfrm>
              <a:off x="253507" y="457211"/>
              <a:ext cx="1443900" cy="8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FFFF"/>
                  </a:solidFill>
                </a:rPr>
                <a:t>06</a:t>
              </a:r>
              <a:endParaRPr/>
            </a:p>
          </p:txBody>
        </p:sp>
      </p:grpSp>
      <p:sp>
        <p:nvSpPr>
          <p:cNvPr id="679" name="Google Shape;679;p40"/>
          <p:cNvSpPr/>
          <p:nvPr/>
        </p:nvSpPr>
        <p:spPr>
          <a:xfrm>
            <a:off x="7123033" y="2197243"/>
            <a:ext cx="551700" cy="47133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0" name="Google Shape;680;p40"/>
          <p:cNvGrpSpPr/>
          <p:nvPr/>
        </p:nvGrpSpPr>
        <p:grpSpPr>
          <a:xfrm>
            <a:off x="6771964" y="5872381"/>
            <a:ext cx="1253697" cy="1114029"/>
            <a:chOff x="0" y="0"/>
            <a:chExt cx="1950975" cy="1733628"/>
          </a:xfrm>
        </p:grpSpPr>
        <p:pic>
          <p:nvPicPr>
            <p:cNvPr id="681" name="Google Shape;681;p40"/>
            <p:cNvPicPr preferRelativeResize="0"/>
            <p:nvPr/>
          </p:nvPicPr>
          <p:blipFill rotWithShape="1">
            <a:blip r:embed="rId6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2" name="Google Shape;682;p40"/>
            <p:cNvSpPr txBox="1"/>
            <p:nvPr/>
          </p:nvSpPr>
          <p:spPr>
            <a:xfrm>
              <a:off x="253507" y="457211"/>
              <a:ext cx="1443900" cy="8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/>
            </a:p>
          </p:txBody>
        </p:sp>
      </p:grpSp>
      <p:grpSp>
        <p:nvGrpSpPr>
          <p:cNvPr id="683" name="Google Shape;683;p40"/>
          <p:cNvGrpSpPr/>
          <p:nvPr/>
        </p:nvGrpSpPr>
        <p:grpSpPr>
          <a:xfrm rot="-5400000">
            <a:off x="1218423" y="5281037"/>
            <a:ext cx="806956" cy="236050"/>
            <a:chOff x="0" y="1270"/>
            <a:chExt cx="1727957" cy="505460"/>
          </a:xfrm>
        </p:grpSpPr>
        <p:sp>
          <p:nvSpPr>
            <p:cNvPr id="684" name="Google Shape;684;p40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86EAE9"/>
            </a:solidFill>
            <a:ln>
              <a:noFill/>
            </a:ln>
          </p:spPr>
        </p:sp>
        <p:sp>
          <p:nvSpPr>
            <p:cNvPr id="685" name="Google Shape;685;p40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86EAE9"/>
            </a:solidFill>
            <a:ln>
              <a:noFill/>
            </a:ln>
          </p:spPr>
        </p:sp>
      </p:grpSp>
      <p:grpSp>
        <p:nvGrpSpPr>
          <p:cNvPr id="686" name="Google Shape;686;p40"/>
          <p:cNvGrpSpPr/>
          <p:nvPr/>
        </p:nvGrpSpPr>
        <p:grpSpPr>
          <a:xfrm rot="5400000">
            <a:off x="10114151" y="3638646"/>
            <a:ext cx="755981" cy="221139"/>
            <a:chOff x="0" y="1270"/>
            <a:chExt cx="1727957" cy="505460"/>
          </a:xfrm>
        </p:grpSpPr>
        <p:sp>
          <p:nvSpPr>
            <p:cNvPr id="687" name="Google Shape;687;p40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688" name="Google Shape;688;p40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</p:grpSp>
      <p:grpSp>
        <p:nvGrpSpPr>
          <p:cNvPr id="689" name="Google Shape;689;p40"/>
          <p:cNvGrpSpPr/>
          <p:nvPr/>
        </p:nvGrpSpPr>
        <p:grpSpPr>
          <a:xfrm rot="5400000">
            <a:off x="15606971" y="3789597"/>
            <a:ext cx="796588" cy="233017"/>
            <a:chOff x="0" y="1270"/>
            <a:chExt cx="1727957" cy="505460"/>
          </a:xfrm>
        </p:grpSpPr>
        <p:sp>
          <p:nvSpPr>
            <p:cNvPr id="690" name="Google Shape;690;p40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  <p:sp>
          <p:nvSpPr>
            <p:cNvPr id="691" name="Google Shape;691;p40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13538A"/>
            </a:solidFill>
            <a:ln>
              <a:noFill/>
            </a:ln>
          </p:spPr>
        </p:sp>
      </p:grpSp>
      <p:grpSp>
        <p:nvGrpSpPr>
          <p:cNvPr id="692" name="Google Shape;692;p40"/>
          <p:cNvGrpSpPr/>
          <p:nvPr/>
        </p:nvGrpSpPr>
        <p:grpSpPr>
          <a:xfrm rot="-5400000">
            <a:off x="7009209" y="5298907"/>
            <a:ext cx="779309" cy="227962"/>
            <a:chOff x="0" y="1270"/>
            <a:chExt cx="1727957" cy="505460"/>
          </a:xfrm>
        </p:grpSpPr>
        <p:sp>
          <p:nvSpPr>
            <p:cNvPr id="693" name="Google Shape;693;p40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C92D5"/>
            </a:solidFill>
            <a:ln>
              <a:noFill/>
            </a:ln>
          </p:spPr>
        </p:sp>
        <p:sp>
          <p:nvSpPr>
            <p:cNvPr id="694" name="Google Shape;694;p40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2C92D5"/>
            </a:solidFill>
            <a:ln>
              <a:noFill/>
            </a:ln>
          </p:spPr>
        </p:sp>
      </p:grpSp>
      <p:grpSp>
        <p:nvGrpSpPr>
          <p:cNvPr id="695" name="Google Shape;695;p40"/>
          <p:cNvGrpSpPr/>
          <p:nvPr/>
        </p:nvGrpSpPr>
        <p:grpSpPr>
          <a:xfrm>
            <a:off x="341600" y="2322072"/>
            <a:ext cx="2753018" cy="3813005"/>
            <a:chOff x="-322888" y="-4433993"/>
            <a:chExt cx="4137388" cy="5730395"/>
          </a:xfrm>
        </p:grpSpPr>
        <p:sp>
          <p:nvSpPr>
            <p:cNvPr id="696" name="Google Shape;696;p40"/>
            <p:cNvSpPr txBox="1"/>
            <p:nvPr/>
          </p:nvSpPr>
          <p:spPr>
            <a:xfrm>
              <a:off x="-322888" y="-4433993"/>
              <a:ext cx="3814500" cy="6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  <a:endParaRPr/>
            </a:p>
          </p:txBody>
        </p:sp>
        <p:sp>
          <p:nvSpPr>
            <p:cNvPr id="697" name="Google Shape;697;p40"/>
            <p:cNvSpPr txBox="1"/>
            <p:nvPr/>
          </p:nvSpPr>
          <p:spPr>
            <a:xfrm>
              <a:off x="0" y="880002"/>
              <a:ext cx="3814500" cy="41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8" name="Google Shape;698;p40"/>
          <p:cNvGrpSpPr/>
          <p:nvPr/>
        </p:nvGrpSpPr>
        <p:grpSpPr>
          <a:xfrm>
            <a:off x="8833649" y="5406200"/>
            <a:ext cx="3229792" cy="833406"/>
            <a:chOff x="-767286" y="-31406"/>
            <a:chExt cx="5180100" cy="1336658"/>
          </a:xfrm>
        </p:grpSpPr>
        <p:sp>
          <p:nvSpPr>
            <p:cNvPr id="699" name="Google Shape;699;p40"/>
            <p:cNvSpPr txBox="1"/>
            <p:nvPr/>
          </p:nvSpPr>
          <p:spPr>
            <a:xfrm>
              <a:off x="-767286" y="-31406"/>
              <a:ext cx="5180100" cy="6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91919"/>
                  </a:solidFill>
                </a:rPr>
                <a:t>IMPLÉMENTATION</a:t>
              </a:r>
              <a:endParaRPr sz="2800"/>
            </a:p>
          </p:txBody>
        </p:sp>
        <p:sp>
          <p:nvSpPr>
            <p:cNvPr id="700" name="Google Shape;700;p40"/>
            <p:cNvSpPr txBox="1"/>
            <p:nvPr/>
          </p:nvSpPr>
          <p:spPr>
            <a:xfrm>
              <a:off x="0" y="860952"/>
              <a:ext cx="3785400" cy="44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1" name="Google Shape;701;p40"/>
          <p:cNvGrpSpPr/>
          <p:nvPr/>
        </p:nvGrpSpPr>
        <p:grpSpPr>
          <a:xfrm>
            <a:off x="5934849" y="2178888"/>
            <a:ext cx="3229713" cy="850442"/>
            <a:chOff x="-574308" y="-31387"/>
            <a:chExt cx="5026008" cy="1323439"/>
          </a:xfrm>
        </p:grpSpPr>
        <p:sp>
          <p:nvSpPr>
            <p:cNvPr id="702" name="Google Shape;702;p40"/>
            <p:cNvSpPr txBox="1"/>
            <p:nvPr/>
          </p:nvSpPr>
          <p:spPr>
            <a:xfrm>
              <a:off x="-574308" y="-31387"/>
              <a:ext cx="50259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91919"/>
                  </a:solidFill>
                </a:rPr>
                <a:t>CONCEPTION</a:t>
              </a:r>
              <a:endParaRPr sz="2800"/>
            </a:p>
          </p:txBody>
        </p:sp>
        <p:sp>
          <p:nvSpPr>
            <p:cNvPr id="703" name="Google Shape;703;p40"/>
            <p:cNvSpPr txBox="1"/>
            <p:nvPr/>
          </p:nvSpPr>
          <p:spPr>
            <a:xfrm>
              <a:off x="0" y="860952"/>
              <a:ext cx="4451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4" name="Google Shape;704;p40"/>
          <p:cNvSpPr txBox="1"/>
          <p:nvPr/>
        </p:nvSpPr>
        <p:spPr>
          <a:xfrm>
            <a:off x="14828350" y="5839511"/>
            <a:ext cx="236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CONCLUSION </a:t>
            </a:r>
            <a:endParaRPr/>
          </a:p>
        </p:txBody>
      </p:sp>
      <p:pic>
        <p:nvPicPr>
          <p:cNvPr id="705" name="Google Shape;705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726355" y="7525845"/>
            <a:ext cx="2220058" cy="2220057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40"/>
          <p:cNvSpPr txBox="1"/>
          <p:nvPr/>
        </p:nvSpPr>
        <p:spPr>
          <a:xfrm>
            <a:off x="16200842" y="8127975"/>
            <a:ext cx="1271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28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707" name="Google Shape;707;p40"/>
          <p:cNvSpPr/>
          <p:nvPr/>
        </p:nvSpPr>
        <p:spPr>
          <a:xfrm>
            <a:off x="4339613" y="2055318"/>
            <a:ext cx="535200" cy="45729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8" name="Google Shape;708;p40"/>
          <p:cNvGrpSpPr/>
          <p:nvPr/>
        </p:nvGrpSpPr>
        <p:grpSpPr>
          <a:xfrm>
            <a:off x="3999018" y="1981724"/>
            <a:ext cx="1216433" cy="1080917"/>
            <a:chOff x="0" y="0"/>
            <a:chExt cx="1950975" cy="1733628"/>
          </a:xfrm>
        </p:grpSpPr>
        <p:pic>
          <p:nvPicPr>
            <p:cNvPr id="709" name="Google Shape;709;p40"/>
            <p:cNvPicPr preferRelativeResize="0"/>
            <p:nvPr/>
          </p:nvPicPr>
          <p:blipFill rotWithShape="1">
            <a:blip r:embed="rId4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0" name="Google Shape;710;p40"/>
            <p:cNvSpPr txBox="1"/>
            <p:nvPr/>
          </p:nvSpPr>
          <p:spPr>
            <a:xfrm>
              <a:off x="253507" y="457211"/>
              <a:ext cx="1443900" cy="88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US" sz="3600">
                  <a:solidFill>
                    <a:srgbClr val="FFFFFF"/>
                  </a:solidFill>
                </a:rPr>
                <a:t>2</a:t>
              </a:r>
              <a:endParaRPr/>
            </a:p>
          </p:txBody>
        </p:sp>
      </p:grpSp>
      <p:grpSp>
        <p:nvGrpSpPr>
          <p:cNvPr id="711" name="Google Shape;711;p40"/>
          <p:cNvGrpSpPr/>
          <p:nvPr/>
        </p:nvGrpSpPr>
        <p:grpSpPr>
          <a:xfrm rot="5400000">
            <a:off x="4229226" y="3397771"/>
            <a:ext cx="755981" cy="221139"/>
            <a:chOff x="0" y="1270"/>
            <a:chExt cx="1727957" cy="505460"/>
          </a:xfrm>
        </p:grpSpPr>
        <p:sp>
          <p:nvSpPr>
            <p:cNvPr id="712" name="Google Shape;712;p40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  <p:sp>
          <p:nvSpPr>
            <p:cNvPr id="713" name="Google Shape;713;p40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37C9EF"/>
            </a:solidFill>
            <a:ln>
              <a:noFill/>
            </a:ln>
          </p:spPr>
        </p:sp>
      </p:grpSp>
      <p:grpSp>
        <p:nvGrpSpPr>
          <p:cNvPr id="714" name="Google Shape;714;p40"/>
          <p:cNvGrpSpPr/>
          <p:nvPr/>
        </p:nvGrpSpPr>
        <p:grpSpPr>
          <a:xfrm>
            <a:off x="3427127" y="5165331"/>
            <a:ext cx="2360197" cy="833401"/>
            <a:chOff x="0" y="-31397"/>
            <a:chExt cx="3785400" cy="1336649"/>
          </a:xfrm>
        </p:grpSpPr>
        <p:sp>
          <p:nvSpPr>
            <p:cNvPr id="715" name="Google Shape;715;p40"/>
            <p:cNvSpPr txBox="1"/>
            <p:nvPr/>
          </p:nvSpPr>
          <p:spPr>
            <a:xfrm>
              <a:off x="0" y="-31397"/>
              <a:ext cx="3785400" cy="6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91919"/>
                  </a:solidFill>
                </a:rPr>
                <a:t>État de l'Art</a:t>
              </a:r>
              <a:endParaRPr sz="2800"/>
            </a:p>
          </p:txBody>
        </p:sp>
        <p:sp>
          <p:nvSpPr>
            <p:cNvPr id="716" name="Google Shape;716;p40"/>
            <p:cNvSpPr txBox="1"/>
            <p:nvPr/>
          </p:nvSpPr>
          <p:spPr>
            <a:xfrm>
              <a:off x="0" y="860952"/>
              <a:ext cx="3785400" cy="44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7" name="Google Shape;717;p40"/>
          <p:cNvSpPr/>
          <p:nvPr/>
        </p:nvSpPr>
        <p:spPr>
          <a:xfrm>
            <a:off x="15580011" y="541075"/>
            <a:ext cx="850500" cy="850500"/>
          </a:xfrm>
          <a:prstGeom prst="donut">
            <a:avLst>
              <a:gd fmla="val 25000" name="adj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40"/>
          <p:cNvSpPr/>
          <p:nvPr/>
        </p:nvSpPr>
        <p:spPr>
          <a:xfrm>
            <a:off x="12893754" y="2430135"/>
            <a:ext cx="559200" cy="4630500"/>
          </a:xfrm>
          <a:prstGeom prst="rect">
            <a:avLst/>
          </a:prstGeom>
          <a:solidFill>
            <a:srgbClr val="191919">
              <a:alpha val="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9" name="Google Shape;719;p40"/>
          <p:cNvGrpSpPr/>
          <p:nvPr/>
        </p:nvGrpSpPr>
        <p:grpSpPr>
          <a:xfrm>
            <a:off x="12537855" y="6008177"/>
            <a:ext cx="1271060" cy="1129458"/>
            <a:chOff x="0" y="0"/>
            <a:chExt cx="1950975" cy="1733628"/>
          </a:xfrm>
        </p:grpSpPr>
        <p:pic>
          <p:nvPicPr>
            <p:cNvPr id="720" name="Google Shape;720;p40"/>
            <p:cNvPicPr preferRelativeResize="0"/>
            <p:nvPr/>
          </p:nvPicPr>
          <p:blipFill rotWithShape="1">
            <a:blip r:embed="rId8">
              <a:alphaModFix/>
            </a:blip>
            <a:srcRect b="5571" l="0" r="0" t="5571"/>
            <a:stretch/>
          </p:blipFill>
          <p:spPr>
            <a:xfrm>
              <a:off x="0" y="0"/>
              <a:ext cx="1950975" cy="1733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1" name="Google Shape;721;p40"/>
            <p:cNvSpPr txBox="1"/>
            <p:nvPr/>
          </p:nvSpPr>
          <p:spPr>
            <a:xfrm>
              <a:off x="253507" y="457211"/>
              <a:ext cx="1443900" cy="8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FFFF"/>
                  </a:solidFill>
                </a:rPr>
                <a:t>05</a:t>
              </a:r>
              <a:endParaRPr/>
            </a:p>
          </p:txBody>
        </p:sp>
      </p:grpSp>
      <p:grpSp>
        <p:nvGrpSpPr>
          <p:cNvPr id="722" name="Google Shape;722;p40"/>
          <p:cNvGrpSpPr/>
          <p:nvPr/>
        </p:nvGrpSpPr>
        <p:grpSpPr>
          <a:xfrm rot="-5400000">
            <a:off x="12778367" y="5426817"/>
            <a:ext cx="790022" cy="231096"/>
            <a:chOff x="0" y="1270"/>
            <a:chExt cx="1727957" cy="505460"/>
          </a:xfrm>
        </p:grpSpPr>
        <p:sp>
          <p:nvSpPr>
            <p:cNvPr id="723" name="Google Shape;723;p40"/>
            <p:cNvSpPr/>
            <p:nvPr/>
          </p:nvSpPr>
          <p:spPr>
            <a:xfrm>
              <a:off x="0" y="215900"/>
              <a:ext cx="1432047" cy="76200"/>
            </a:xfrm>
            <a:custGeom>
              <a:rect b="b" l="l" r="r" t="t"/>
              <a:pathLst>
                <a:path extrusionOk="0" h="76200" w="1432047">
                  <a:moveTo>
                    <a:pt x="0" y="0"/>
                  </a:moveTo>
                  <a:lnTo>
                    <a:pt x="1432047" y="0"/>
                  </a:lnTo>
                  <a:lnTo>
                    <a:pt x="143204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EDAD8"/>
            </a:solidFill>
            <a:ln>
              <a:noFill/>
            </a:ln>
          </p:spPr>
        </p:sp>
        <p:sp>
          <p:nvSpPr>
            <p:cNvPr id="724" name="Google Shape;724;p40"/>
            <p:cNvSpPr/>
            <p:nvPr/>
          </p:nvSpPr>
          <p:spPr>
            <a:xfrm>
              <a:off x="1353307" y="1270"/>
              <a:ext cx="374650" cy="505460"/>
            </a:xfrm>
            <a:custGeom>
              <a:rect b="b" l="l" r="r" t="t"/>
              <a:pathLst>
                <a:path extrusionOk="0" h="505460" w="374650">
                  <a:moveTo>
                    <a:pt x="0" y="505460"/>
                  </a:moveTo>
                  <a:lnTo>
                    <a:pt x="0" y="0"/>
                  </a:lnTo>
                  <a:lnTo>
                    <a:pt x="374650" y="252730"/>
                  </a:lnTo>
                  <a:close/>
                </a:path>
              </a:pathLst>
            </a:custGeom>
            <a:solidFill>
              <a:srgbClr val="3EDAD8"/>
            </a:solidFill>
            <a:ln>
              <a:noFill/>
            </a:ln>
          </p:spPr>
        </p:sp>
      </p:grpSp>
      <p:grpSp>
        <p:nvGrpSpPr>
          <p:cNvPr id="725" name="Google Shape;725;p40"/>
          <p:cNvGrpSpPr/>
          <p:nvPr/>
        </p:nvGrpSpPr>
        <p:grpSpPr>
          <a:xfrm>
            <a:off x="12063351" y="2229492"/>
            <a:ext cx="2220117" cy="1222572"/>
            <a:chOff x="0" y="-31397"/>
            <a:chExt cx="3407700" cy="1876549"/>
          </a:xfrm>
        </p:grpSpPr>
        <p:sp>
          <p:nvSpPr>
            <p:cNvPr id="726" name="Google Shape;726;p40"/>
            <p:cNvSpPr txBox="1"/>
            <p:nvPr/>
          </p:nvSpPr>
          <p:spPr>
            <a:xfrm>
              <a:off x="0" y="-31397"/>
              <a:ext cx="3407700" cy="66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91919"/>
                  </a:solidFill>
                </a:rPr>
                <a:t>Démo et Tests</a:t>
              </a:r>
              <a:endParaRPr sz="2800"/>
            </a:p>
          </p:txBody>
        </p:sp>
        <p:sp>
          <p:nvSpPr>
            <p:cNvPr id="727" name="Google Shape;727;p40"/>
            <p:cNvSpPr txBox="1"/>
            <p:nvPr/>
          </p:nvSpPr>
          <p:spPr>
            <a:xfrm>
              <a:off x="0" y="1419752"/>
              <a:ext cx="3407700" cy="42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41"/>
          <p:cNvSpPr txBox="1"/>
          <p:nvPr/>
        </p:nvSpPr>
        <p:spPr>
          <a:xfrm>
            <a:off x="1904248" y="2166141"/>
            <a:ext cx="14479500" cy="6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lang="en-US" sz="3800">
                <a:solidFill>
                  <a:schemeClr val="dk1"/>
                </a:solidFill>
              </a:rPr>
              <a:t>Développement d'un système Q/A biomédical performant basé sur HDFS, MongoDB, Spark et LLMs.</a:t>
            </a:r>
            <a:endParaRPr sz="3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dk1"/>
              </a:solidFill>
            </a:endParaRPr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lang="en-US" sz="3800">
                <a:solidFill>
                  <a:schemeClr val="dk1"/>
                </a:solidFill>
              </a:rPr>
              <a:t>Architecture hybride scalable avec stockage distribué et traitement parallèle optimisé pour le biomédical.</a:t>
            </a:r>
            <a:endParaRPr sz="3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dk1"/>
              </a:solidFill>
            </a:endParaRPr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lang="en-US" sz="3800">
                <a:solidFill>
                  <a:schemeClr val="dk1"/>
                </a:solidFill>
              </a:rPr>
              <a:t>Précision élevée et transparence des réponses avec citation des sources.</a:t>
            </a:r>
            <a:endParaRPr sz="3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dk1"/>
              </a:solidFill>
            </a:endParaRPr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lang="en-US" sz="3800">
                <a:solidFill>
                  <a:schemeClr val="dk1"/>
                </a:solidFill>
              </a:rPr>
              <a:t>Cadre reproductible ouvrant la voie à des applications en recherche, clinique et éducation.</a:t>
            </a:r>
            <a:endParaRPr sz="3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dk1"/>
              </a:solidFill>
            </a:endParaRPr>
          </a:p>
        </p:txBody>
      </p:sp>
      <p:pic>
        <p:nvPicPr>
          <p:cNvPr id="733" name="Google Shape;73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93505" y="8496300"/>
            <a:ext cx="2035546" cy="2035546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41"/>
          <p:cNvSpPr txBox="1"/>
          <p:nvPr/>
        </p:nvSpPr>
        <p:spPr>
          <a:xfrm>
            <a:off x="16855677" y="9006241"/>
            <a:ext cx="111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29</a:t>
            </a:r>
            <a:endParaRPr b="1" sz="6000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735" name="Google Shape;735;p41"/>
          <p:cNvSpPr txBox="1"/>
          <p:nvPr/>
        </p:nvSpPr>
        <p:spPr>
          <a:xfrm>
            <a:off x="2108250" y="613450"/>
            <a:ext cx="14071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73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</a:rPr>
              <a:t>Conclusion</a:t>
            </a:r>
            <a:endParaRPr b="1" sz="6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0" name="Google Shape;74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20800" y="5751775"/>
            <a:ext cx="2780073" cy="2780073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42"/>
          <p:cNvSpPr txBox="1"/>
          <p:nvPr/>
        </p:nvSpPr>
        <p:spPr>
          <a:xfrm>
            <a:off x="2514600" y="1333500"/>
            <a:ext cx="12147600" cy="12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6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Merci pour votre attention</a:t>
            </a:r>
            <a:endParaRPr/>
          </a:p>
        </p:txBody>
      </p:sp>
      <p:sp>
        <p:nvSpPr>
          <p:cNvPr id="742" name="Google Shape;742;p42"/>
          <p:cNvSpPr txBox="1"/>
          <p:nvPr/>
        </p:nvSpPr>
        <p:spPr>
          <a:xfrm>
            <a:off x="1295400" y="4535224"/>
            <a:ext cx="6324600" cy="12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53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vos question?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